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9"/>
  </p:notesMasterIdLst>
  <p:sldIdLst>
    <p:sldId id="256" r:id="rId5"/>
    <p:sldId id="257" r:id="rId6"/>
    <p:sldId id="258" r:id="rId7"/>
    <p:sldId id="259" r:id="rId8"/>
    <p:sldId id="260" r:id="rId9"/>
    <p:sldId id="261" r:id="rId10"/>
    <p:sldId id="268" r:id="rId11"/>
    <p:sldId id="262" r:id="rId12"/>
    <p:sldId id="263" r:id="rId13"/>
    <p:sldId id="264" r:id="rId14"/>
    <p:sldId id="265" r:id="rId15"/>
    <p:sldId id="266" r:id="rId16"/>
    <p:sldId id="269" r:id="rId17"/>
    <p:sldId id="267"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07625A5-40F9-4E65-91EE-1E24598677C3}" v="1" dt="2026-05-07T15:33:44.092"/>
    <p1510:client id="{F2343966-9A02-4EC7-9FEC-4C6BB8338713}" v="42" dt="2026-05-07T15:09:49.3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0" d="100"/>
          <a:sy n="130" d="100"/>
        </p:scale>
        <p:origin x="82"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83025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Shape 0"/>
          <p:cNvSpPr/>
          <p:nvPr/>
        </p:nvSpPr>
        <p:spPr>
          <a:xfrm>
            <a:off x="7132320" y="-914400"/>
            <a:ext cx="3200400" cy="3200400"/>
          </a:xfrm>
          <a:prstGeom prst="ellipse">
            <a:avLst/>
          </a:prstGeom>
          <a:solidFill>
            <a:srgbClr val="2E74B5">
              <a:alpha val="25000"/>
            </a:srgbClr>
          </a:solidFill>
          <a:ln/>
        </p:spPr>
        <p:txBody>
          <a:bodyPr/>
          <a:lstStyle/>
          <a:p>
            <a:endParaRPr lang="en-US"/>
          </a:p>
        </p:txBody>
      </p:sp>
      <p:sp>
        <p:nvSpPr>
          <p:cNvPr id="3" name="Shape 1"/>
          <p:cNvSpPr/>
          <p:nvPr/>
        </p:nvSpPr>
        <p:spPr>
          <a:xfrm>
            <a:off x="-914400" y="3200400"/>
            <a:ext cx="2743200" cy="2743200"/>
          </a:xfrm>
          <a:prstGeom prst="ellipse">
            <a:avLst/>
          </a:prstGeom>
          <a:solidFill>
            <a:srgbClr val="2E74B5">
              <a:alpha val="20000"/>
            </a:srgbClr>
          </a:solidFill>
          <a:ln/>
        </p:spPr>
        <p:txBody>
          <a:bodyPr/>
          <a:lstStyle/>
          <a:p>
            <a:endParaRPr lang="en-US"/>
          </a:p>
        </p:txBody>
      </p:sp>
      <p:sp>
        <p:nvSpPr>
          <p:cNvPr id="4" name="Text 2"/>
          <p:cNvSpPr/>
          <p:nvPr/>
        </p:nvSpPr>
        <p:spPr>
          <a:xfrm>
            <a:off x="640080" y="1005840"/>
            <a:ext cx="7863840" cy="777240"/>
          </a:xfrm>
          <a:prstGeom prst="rect">
            <a:avLst/>
          </a:prstGeom>
          <a:noFill/>
          <a:ln/>
        </p:spPr>
        <p:txBody>
          <a:bodyPr wrap="square" rtlCol="0" anchor="ctr"/>
          <a:lstStyle/>
          <a:p>
            <a:pPr marL="0" indent="0" algn="ctr">
              <a:buNone/>
            </a:pPr>
            <a:r>
              <a:rPr lang="en-US" sz="4000" b="1" dirty="0"/>
              <a:t>Mini Search Engine</a:t>
            </a:r>
            <a:endParaRPr lang="en-US" sz="4000" dirty="0"/>
          </a:p>
        </p:txBody>
      </p:sp>
      <p:sp>
        <p:nvSpPr>
          <p:cNvPr id="5" name="Text 3"/>
          <p:cNvSpPr/>
          <p:nvPr/>
        </p:nvSpPr>
        <p:spPr>
          <a:xfrm>
            <a:off x="640080" y="1783080"/>
            <a:ext cx="7863840" cy="685800"/>
          </a:xfrm>
          <a:prstGeom prst="rect">
            <a:avLst/>
          </a:prstGeom>
          <a:noFill/>
          <a:ln/>
        </p:spPr>
        <p:txBody>
          <a:bodyPr wrap="square" rtlCol="0" anchor="ctr"/>
          <a:lstStyle/>
          <a:p>
            <a:pPr marL="0" indent="0" algn="ctr">
              <a:buNone/>
            </a:pPr>
            <a:r>
              <a:rPr lang="en-US" sz="3200" dirty="0">
                <a:solidFill>
                  <a:schemeClr val="tx2">
                    <a:lumMod val="75000"/>
                  </a:schemeClr>
                </a:solidFill>
              </a:rPr>
              <a:t>with RAG Extension</a:t>
            </a:r>
          </a:p>
        </p:txBody>
      </p:sp>
      <p:sp>
        <p:nvSpPr>
          <p:cNvPr id="6" name="Shape 4"/>
          <p:cNvSpPr/>
          <p:nvPr/>
        </p:nvSpPr>
        <p:spPr>
          <a:xfrm>
            <a:off x="3200400" y="2606040"/>
            <a:ext cx="2743200" cy="36576"/>
          </a:xfrm>
          <a:prstGeom prst="rect">
            <a:avLst/>
          </a:prstGeom>
          <a:solidFill>
            <a:srgbClr val="2E74B5"/>
          </a:solidFill>
          <a:ln/>
        </p:spPr>
        <p:txBody>
          <a:bodyPr/>
          <a:lstStyle/>
          <a:p>
            <a:endParaRPr lang="en-US"/>
          </a:p>
        </p:txBody>
      </p:sp>
      <p:sp>
        <p:nvSpPr>
          <p:cNvPr id="7" name="Text 5"/>
          <p:cNvSpPr/>
          <p:nvPr/>
        </p:nvSpPr>
        <p:spPr>
          <a:xfrm>
            <a:off x="640080" y="2834640"/>
            <a:ext cx="7863840" cy="365760"/>
          </a:xfrm>
          <a:prstGeom prst="rect">
            <a:avLst/>
          </a:prstGeom>
          <a:noFill/>
          <a:ln/>
        </p:spPr>
        <p:txBody>
          <a:bodyPr wrap="square" rtlCol="0" anchor="ctr"/>
          <a:lstStyle/>
          <a:p>
            <a:pPr marL="0" indent="0" algn="ctr">
              <a:buNone/>
            </a:pPr>
            <a:r>
              <a:rPr lang="en-US" sz="1600" dirty="0">
                <a:solidFill>
                  <a:schemeClr val="tx2">
                    <a:lumMod val="75000"/>
                  </a:schemeClr>
                </a:solidFill>
              </a:rPr>
              <a:t>AI356 — Information Retrieval</a:t>
            </a:r>
          </a:p>
        </p:txBody>
      </p:sp>
      <p:sp>
        <p:nvSpPr>
          <p:cNvPr id="8" name="Text 6"/>
          <p:cNvSpPr/>
          <p:nvPr/>
        </p:nvSpPr>
        <p:spPr>
          <a:xfrm>
            <a:off x="640080" y="3291840"/>
            <a:ext cx="7863840" cy="320040"/>
          </a:xfrm>
          <a:prstGeom prst="rect">
            <a:avLst/>
          </a:prstGeom>
          <a:noFill/>
          <a:ln/>
        </p:spPr>
        <p:txBody>
          <a:bodyPr wrap="square" rtlCol="0" anchor="ctr"/>
          <a:lstStyle/>
          <a:p>
            <a:pPr marL="0" indent="0" algn="ctr">
              <a:buNone/>
            </a:pPr>
            <a:r>
              <a:rPr lang="en-US" sz="1300" dirty="0">
                <a:solidFill>
                  <a:schemeClr val="tx2">
                    <a:lumMod val="75000"/>
                  </a:schemeClr>
                </a:solidFill>
              </a:rPr>
              <a:t>Jordan University of Science and Technology</a:t>
            </a:r>
          </a:p>
        </p:txBody>
      </p:sp>
      <p:sp>
        <p:nvSpPr>
          <p:cNvPr id="9" name="Text 7"/>
          <p:cNvSpPr/>
          <p:nvPr/>
        </p:nvSpPr>
        <p:spPr>
          <a:xfrm>
            <a:off x="640080" y="3840480"/>
            <a:ext cx="7863840" cy="822960"/>
          </a:xfrm>
          <a:prstGeom prst="rect">
            <a:avLst/>
          </a:prstGeom>
          <a:noFill/>
          <a:ln/>
        </p:spPr>
        <p:txBody>
          <a:bodyPr wrap="square" rtlCol="0" anchor="ctr"/>
          <a:lstStyle/>
          <a:p>
            <a:pPr marL="0" indent="0" algn="ctr">
              <a:buNone/>
            </a:pPr>
            <a:r>
              <a:rPr lang="en-US" sz="1400" dirty="0">
                <a:solidFill>
                  <a:srgbClr val="993300"/>
                </a:solidFill>
              </a:rPr>
              <a:t>Samira Aldamen</a:t>
            </a:r>
          </a:p>
          <a:p>
            <a:pPr marL="0" indent="0" algn="ctr">
              <a:buNone/>
            </a:pPr>
            <a:r>
              <a:rPr lang="en-US" sz="1400" dirty="0">
                <a:solidFill>
                  <a:srgbClr val="993300"/>
                </a:solidFill>
              </a:rPr>
              <a:t>Wajd Almadi</a:t>
            </a:r>
          </a:p>
          <a:p>
            <a:pPr marL="0" indent="0" algn="ctr">
              <a:buNone/>
            </a:pPr>
            <a:r>
              <a:rPr lang="en-US" sz="1400" dirty="0">
                <a:solidFill>
                  <a:srgbClr val="993300"/>
                </a:solidFill>
              </a:rPr>
              <a:t>Batool Mahashi</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D6E4F7"/>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rtlCol="0" anchor="ctr"/>
          <a:lstStyle/>
          <a:p>
            <a:pPr marL="0" indent="0">
              <a:buNone/>
            </a:pPr>
            <a:r>
              <a:rPr lang="en-US" sz="2600" b="1" dirty="0">
                <a:solidFill>
                  <a:srgbClr val="2E74B5"/>
                </a:solidFill>
              </a:rPr>
              <a:t>Project Overview</a:t>
            </a:r>
            <a:endParaRPr lang="en-US" sz="2600" dirty="0"/>
          </a:p>
        </p:txBody>
      </p:sp>
      <p:sp>
        <p:nvSpPr>
          <p:cNvPr id="3" name="Shape 1"/>
          <p:cNvSpPr/>
          <p:nvPr/>
        </p:nvSpPr>
        <p:spPr>
          <a:xfrm>
            <a:off x="457200" y="777240"/>
            <a:ext cx="8229600" cy="27432"/>
          </a:xfrm>
          <a:prstGeom prst="rect">
            <a:avLst/>
          </a:prstGeom>
          <a:solidFill>
            <a:srgbClr val="2E74B5"/>
          </a:solidFill>
          <a:ln/>
        </p:spPr>
        <p:txBody>
          <a:bodyPr/>
          <a:lstStyle/>
          <a:p>
            <a:endParaRPr lang="en-US"/>
          </a:p>
        </p:txBody>
      </p:sp>
      <p:sp>
        <p:nvSpPr>
          <p:cNvPr id="4" name="Shape 2"/>
          <p:cNvSpPr/>
          <p:nvPr/>
        </p:nvSpPr>
        <p:spPr>
          <a:xfrm>
            <a:off x="411480" y="1005840"/>
            <a:ext cx="2651760" cy="3474720"/>
          </a:xfrm>
          <a:prstGeom prst="rect">
            <a:avLst/>
          </a:prstGeom>
          <a:solidFill>
            <a:srgbClr val="FFFFFF"/>
          </a:solidFill>
          <a:ln/>
          <a:effectLst>
            <a:outerShdw blurRad="101600" dist="25400" dir="8100000" algn="bl" rotWithShape="0">
              <a:srgbClr val="000000">
                <a:alpha val="10000"/>
              </a:srgbClr>
            </a:outerShdw>
          </a:effectLst>
        </p:spPr>
        <p:txBody>
          <a:bodyPr/>
          <a:lstStyle/>
          <a:p>
            <a:endParaRPr lang="en-US"/>
          </a:p>
        </p:txBody>
      </p:sp>
      <p:sp>
        <p:nvSpPr>
          <p:cNvPr id="5" name="Shape 3"/>
          <p:cNvSpPr/>
          <p:nvPr/>
        </p:nvSpPr>
        <p:spPr>
          <a:xfrm>
            <a:off x="411480" y="1005840"/>
            <a:ext cx="2651760" cy="64008"/>
          </a:xfrm>
          <a:prstGeom prst="rect">
            <a:avLst/>
          </a:prstGeom>
          <a:solidFill>
            <a:srgbClr val="2E74B5"/>
          </a:solidFill>
          <a:ln/>
        </p:spPr>
        <p:txBody>
          <a:bodyPr/>
          <a:lstStyle/>
          <a:p>
            <a:endParaRPr lang="en-US"/>
          </a:p>
        </p:txBody>
      </p:sp>
      <p:sp>
        <p:nvSpPr>
          <p:cNvPr id="6" name="Shape 4"/>
          <p:cNvSpPr/>
          <p:nvPr/>
        </p:nvSpPr>
        <p:spPr>
          <a:xfrm>
            <a:off x="1417320" y="1143000"/>
            <a:ext cx="594360" cy="594360"/>
          </a:xfrm>
          <a:prstGeom prst="ellipse">
            <a:avLst/>
          </a:prstGeom>
          <a:solidFill>
            <a:srgbClr val="2E74B5"/>
          </a:solidFill>
          <a:ln/>
        </p:spPr>
        <p:txBody>
          <a:bodyPr/>
          <a:lstStyle/>
          <a:p>
            <a:endParaRPr lang="en-US"/>
          </a:p>
        </p:txBody>
      </p:sp>
      <p:sp>
        <p:nvSpPr>
          <p:cNvPr id="7" name="Text 5"/>
          <p:cNvSpPr/>
          <p:nvPr/>
        </p:nvSpPr>
        <p:spPr>
          <a:xfrm>
            <a:off x="1417320" y="114300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rPr>
              <a:t>1</a:t>
            </a:r>
            <a:endParaRPr lang="en-US" sz="2000" dirty="0"/>
          </a:p>
        </p:txBody>
      </p:sp>
      <p:sp>
        <p:nvSpPr>
          <p:cNvPr id="8" name="Text 6"/>
          <p:cNvSpPr/>
          <p:nvPr/>
        </p:nvSpPr>
        <p:spPr>
          <a:xfrm>
            <a:off x="548640" y="1920240"/>
            <a:ext cx="2377440" cy="365760"/>
          </a:xfrm>
          <a:prstGeom prst="rect">
            <a:avLst/>
          </a:prstGeom>
          <a:noFill/>
          <a:ln/>
        </p:spPr>
        <p:txBody>
          <a:bodyPr wrap="square" rtlCol="0" anchor="ctr"/>
          <a:lstStyle/>
          <a:p>
            <a:pPr marL="0" indent="0" algn="ctr">
              <a:buNone/>
            </a:pPr>
            <a:r>
              <a:rPr lang="en-US" sz="1100" dirty="0">
                <a:solidFill>
                  <a:srgbClr val="5A6A8A"/>
                </a:solidFill>
              </a:rPr>
              <a:t>Part 1</a:t>
            </a:r>
            <a:endParaRPr lang="en-US" sz="1100" dirty="0"/>
          </a:p>
        </p:txBody>
      </p:sp>
      <p:sp>
        <p:nvSpPr>
          <p:cNvPr id="9" name="Text 7"/>
          <p:cNvSpPr/>
          <p:nvPr/>
        </p:nvSpPr>
        <p:spPr>
          <a:xfrm>
            <a:off x="548640" y="2240280"/>
            <a:ext cx="2377440" cy="457200"/>
          </a:xfrm>
          <a:prstGeom prst="rect">
            <a:avLst/>
          </a:prstGeom>
          <a:noFill/>
          <a:ln/>
        </p:spPr>
        <p:txBody>
          <a:bodyPr wrap="square" rtlCol="0" anchor="ctr"/>
          <a:lstStyle/>
          <a:p>
            <a:pPr marL="0" indent="0" algn="ctr">
              <a:buNone/>
            </a:pPr>
            <a:r>
              <a:rPr lang="en-US" sz="1500" b="1" dirty="0">
                <a:solidFill>
                  <a:srgbClr val="1A1A2E"/>
                </a:solidFill>
              </a:rPr>
              <a:t>Data &amp; Index</a:t>
            </a:r>
            <a:endParaRPr lang="en-US" sz="1500" dirty="0"/>
          </a:p>
        </p:txBody>
      </p:sp>
      <p:sp>
        <p:nvSpPr>
          <p:cNvPr id="10" name="Text 8"/>
          <p:cNvSpPr/>
          <p:nvPr/>
        </p:nvSpPr>
        <p:spPr>
          <a:xfrm>
            <a:off x="594360" y="2788920"/>
            <a:ext cx="2286000" cy="1508760"/>
          </a:xfrm>
          <a:prstGeom prst="rect">
            <a:avLst/>
          </a:prstGeom>
          <a:noFill/>
          <a:ln/>
        </p:spPr>
        <p:txBody>
          <a:bodyPr wrap="square" rtlCol="0" anchor="t"/>
          <a:lstStyle/>
          <a:p>
            <a:pPr marL="0" indent="0" algn="ctr">
              <a:buNone/>
            </a:pPr>
            <a:r>
              <a:rPr lang="en-US" sz="1200" dirty="0">
                <a:solidFill>
                  <a:srgbClr val="5A6A8A"/>
                </a:solidFill>
              </a:rPr>
              <a:t>Parse Cranfield dataset → Text preprocessing → Build Inverted Index</a:t>
            </a:r>
            <a:endParaRPr lang="en-US" sz="1200" dirty="0"/>
          </a:p>
        </p:txBody>
      </p:sp>
      <p:sp>
        <p:nvSpPr>
          <p:cNvPr id="11" name="Shape 9"/>
          <p:cNvSpPr/>
          <p:nvPr/>
        </p:nvSpPr>
        <p:spPr>
          <a:xfrm>
            <a:off x="3246120" y="1005840"/>
            <a:ext cx="2651760" cy="3474720"/>
          </a:xfrm>
          <a:prstGeom prst="rect">
            <a:avLst/>
          </a:prstGeom>
          <a:solidFill>
            <a:srgbClr val="FFFFFF"/>
          </a:solidFill>
          <a:ln/>
          <a:effectLst>
            <a:outerShdw blurRad="101600" dist="25400" dir="8100000" algn="bl" rotWithShape="0">
              <a:srgbClr val="000000">
                <a:alpha val="10000"/>
              </a:srgbClr>
            </a:outerShdw>
          </a:effectLst>
        </p:spPr>
        <p:txBody>
          <a:bodyPr/>
          <a:lstStyle/>
          <a:p>
            <a:endParaRPr lang="en-US"/>
          </a:p>
        </p:txBody>
      </p:sp>
      <p:sp>
        <p:nvSpPr>
          <p:cNvPr id="12" name="Shape 10"/>
          <p:cNvSpPr/>
          <p:nvPr/>
        </p:nvSpPr>
        <p:spPr>
          <a:xfrm>
            <a:off x="3246120" y="1005840"/>
            <a:ext cx="2651760" cy="64008"/>
          </a:xfrm>
          <a:prstGeom prst="rect">
            <a:avLst/>
          </a:prstGeom>
          <a:solidFill>
            <a:srgbClr val="2E74B5"/>
          </a:solidFill>
          <a:ln/>
        </p:spPr>
        <p:txBody>
          <a:bodyPr/>
          <a:lstStyle/>
          <a:p>
            <a:endParaRPr lang="en-US"/>
          </a:p>
        </p:txBody>
      </p:sp>
      <p:sp>
        <p:nvSpPr>
          <p:cNvPr id="13" name="Shape 11"/>
          <p:cNvSpPr/>
          <p:nvPr/>
        </p:nvSpPr>
        <p:spPr>
          <a:xfrm>
            <a:off x="4251960" y="1143000"/>
            <a:ext cx="594360" cy="594360"/>
          </a:xfrm>
          <a:prstGeom prst="ellipse">
            <a:avLst/>
          </a:prstGeom>
          <a:solidFill>
            <a:srgbClr val="2E74B5"/>
          </a:solidFill>
          <a:ln/>
        </p:spPr>
        <p:txBody>
          <a:bodyPr/>
          <a:lstStyle/>
          <a:p>
            <a:endParaRPr lang="en-US"/>
          </a:p>
        </p:txBody>
      </p:sp>
      <p:sp>
        <p:nvSpPr>
          <p:cNvPr id="14" name="Text 12"/>
          <p:cNvSpPr/>
          <p:nvPr/>
        </p:nvSpPr>
        <p:spPr>
          <a:xfrm>
            <a:off x="4251960" y="114300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rPr>
              <a:t>2</a:t>
            </a:r>
            <a:endParaRPr lang="en-US" sz="2000" dirty="0"/>
          </a:p>
        </p:txBody>
      </p:sp>
      <p:sp>
        <p:nvSpPr>
          <p:cNvPr id="15" name="Text 13"/>
          <p:cNvSpPr/>
          <p:nvPr/>
        </p:nvSpPr>
        <p:spPr>
          <a:xfrm>
            <a:off x="3383280" y="1920240"/>
            <a:ext cx="2377440" cy="365760"/>
          </a:xfrm>
          <a:prstGeom prst="rect">
            <a:avLst/>
          </a:prstGeom>
          <a:noFill/>
          <a:ln/>
        </p:spPr>
        <p:txBody>
          <a:bodyPr wrap="square" rtlCol="0" anchor="ctr"/>
          <a:lstStyle/>
          <a:p>
            <a:pPr marL="0" indent="0" algn="ctr">
              <a:buNone/>
            </a:pPr>
            <a:r>
              <a:rPr lang="en-US" sz="1100" dirty="0">
                <a:solidFill>
                  <a:srgbClr val="5A6A8A"/>
                </a:solidFill>
              </a:rPr>
              <a:t>Part 2</a:t>
            </a:r>
            <a:endParaRPr lang="en-US" sz="1100" dirty="0"/>
          </a:p>
        </p:txBody>
      </p:sp>
      <p:sp>
        <p:nvSpPr>
          <p:cNvPr id="16" name="Text 14"/>
          <p:cNvSpPr/>
          <p:nvPr/>
        </p:nvSpPr>
        <p:spPr>
          <a:xfrm>
            <a:off x="3383280" y="2240280"/>
            <a:ext cx="2377440" cy="457200"/>
          </a:xfrm>
          <a:prstGeom prst="rect">
            <a:avLst/>
          </a:prstGeom>
          <a:noFill/>
          <a:ln/>
        </p:spPr>
        <p:txBody>
          <a:bodyPr wrap="square" rtlCol="0" anchor="ctr"/>
          <a:lstStyle/>
          <a:p>
            <a:pPr marL="0" indent="0" algn="ctr">
              <a:buNone/>
            </a:pPr>
            <a:r>
              <a:rPr lang="en-US" sz="1500" b="1" dirty="0">
                <a:solidFill>
                  <a:srgbClr val="1A1A2E"/>
                </a:solidFill>
              </a:rPr>
              <a:t>Retrieval Engine</a:t>
            </a:r>
            <a:endParaRPr lang="en-US" sz="1500" dirty="0"/>
          </a:p>
        </p:txBody>
      </p:sp>
      <p:sp>
        <p:nvSpPr>
          <p:cNvPr id="17" name="Text 15"/>
          <p:cNvSpPr/>
          <p:nvPr/>
        </p:nvSpPr>
        <p:spPr>
          <a:xfrm>
            <a:off x="3429000" y="2788920"/>
            <a:ext cx="2286000" cy="1508760"/>
          </a:xfrm>
          <a:prstGeom prst="rect">
            <a:avLst/>
          </a:prstGeom>
          <a:noFill/>
          <a:ln/>
        </p:spPr>
        <p:txBody>
          <a:bodyPr wrap="square" rtlCol="0" anchor="t"/>
          <a:lstStyle/>
          <a:p>
            <a:pPr marL="0" indent="0" algn="ctr">
              <a:buNone/>
            </a:pPr>
            <a:r>
              <a:rPr lang="en-US" sz="1200" dirty="0">
                <a:solidFill>
                  <a:srgbClr val="5A6A8A"/>
                </a:solidFill>
              </a:rPr>
              <a:t>TF-IDF weighting → Cosine similarity → Top-K retrieval</a:t>
            </a:r>
            <a:endParaRPr lang="en-US" sz="1200" dirty="0"/>
          </a:p>
        </p:txBody>
      </p:sp>
      <p:sp>
        <p:nvSpPr>
          <p:cNvPr id="18" name="Shape 16"/>
          <p:cNvSpPr/>
          <p:nvPr/>
        </p:nvSpPr>
        <p:spPr>
          <a:xfrm>
            <a:off x="6080760" y="1005840"/>
            <a:ext cx="2651760" cy="3474720"/>
          </a:xfrm>
          <a:prstGeom prst="rect">
            <a:avLst/>
          </a:prstGeom>
          <a:solidFill>
            <a:srgbClr val="FFFFFF"/>
          </a:solidFill>
          <a:ln/>
          <a:effectLst>
            <a:outerShdw blurRad="101600" dist="25400" dir="8100000" algn="bl" rotWithShape="0">
              <a:srgbClr val="000000">
                <a:alpha val="10000"/>
              </a:srgbClr>
            </a:outerShdw>
          </a:effectLst>
        </p:spPr>
        <p:txBody>
          <a:bodyPr/>
          <a:lstStyle/>
          <a:p>
            <a:endParaRPr lang="en-US"/>
          </a:p>
        </p:txBody>
      </p:sp>
      <p:sp>
        <p:nvSpPr>
          <p:cNvPr id="19" name="Shape 17"/>
          <p:cNvSpPr/>
          <p:nvPr/>
        </p:nvSpPr>
        <p:spPr>
          <a:xfrm>
            <a:off x="6080760" y="1005840"/>
            <a:ext cx="2651760" cy="64008"/>
          </a:xfrm>
          <a:prstGeom prst="rect">
            <a:avLst/>
          </a:prstGeom>
          <a:solidFill>
            <a:srgbClr val="2E74B5"/>
          </a:solidFill>
          <a:ln/>
        </p:spPr>
        <p:txBody>
          <a:bodyPr/>
          <a:lstStyle/>
          <a:p>
            <a:endParaRPr lang="en-US"/>
          </a:p>
        </p:txBody>
      </p:sp>
      <p:sp>
        <p:nvSpPr>
          <p:cNvPr id="20" name="Shape 18"/>
          <p:cNvSpPr/>
          <p:nvPr/>
        </p:nvSpPr>
        <p:spPr>
          <a:xfrm>
            <a:off x="7086600" y="1143000"/>
            <a:ext cx="594360" cy="594360"/>
          </a:xfrm>
          <a:prstGeom prst="ellipse">
            <a:avLst/>
          </a:prstGeom>
          <a:solidFill>
            <a:srgbClr val="2E74B5"/>
          </a:solidFill>
          <a:ln/>
        </p:spPr>
        <p:txBody>
          <a:bodyPr/>
          <a:lstStyle/>
          <a:p>
            <a:endParaRPr lang="en-US"/>
          </a:p>
        </p:txBody>
      </p:sp>
      <p:sp>
        <p:nvSpPr>
          <p:cNvPr id="21" name="Text 19"/>
          <p:cNvSpPr/>
          <p:nvPr/>
        </p:nvSpPr>
        <p:spPr>
          <a:xfrm>
            <a:off x="7086600" y="114300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rPr>
              <a:t>3</a:t>
            </a:r>
            <a:endParaRPr lang="en-US" sz="2000" dirty="0"/>
          </a:p>
        </p:txBody>
      </p:sp>
      <p:sp>
        <p:nvSpPr>
          <p:cNvPr id="22" name="Text 20"/>
          <p:cNvSpPr/>
          <p:nvPr/>
        </p:nvSpPr>
        <p:spPr>
          <a:xfrm>
            <a:off x="6217920" y="1920240"/>
            <a:ext cx="2377440" cy="365760"/>
          </a:xfrm>
          <a:prstGeom prst="rect">
            <a:avLst/>
          </a:prstGeom>
          <a:noFill/>
          <a:ln/>
        </p:spPr>
        <p:txBody>
          <a:bodyPr wrap="square" rtlCol="0" anchor="ctr"/>
          <a:lstStyle/>
          <a:p>
            <a:pPr marL="0" indent="0" algn="ctr">
              <a:buNone/>
            </a:pPr>
            <a:r>
              <a:rPr lang="en-US" sz="1100" dirty="0">
                <a:solidFill>
                  <a:srgbClr val="5A6A8A"/>
                </a:solidFill>
              </a:rPr>
              <a:t>Part 3</a:t>
            </a:r>
            <a:endParaRPr lang="en-US" sz="1100" dirty="0"/>
          </a:p>
        </p:txBody>
      </p:sp>
      <p:sp>
        <p:nvSpPr>
          <p:cNvPr id="23" name="Text 21"/>
          <p:cNvSpPr/>
          <p:nvPr/>
        </p:nvSpPr>
        <p:spPr>
          <a:xfrm>
            <a:off x="6217920" y="2240280"/>
            <a:ext cx="2377440" cy="457200"/>
          </a:xfrm>
          <a:prstGeom prst="rect">
            <a:avLst/>
          </a:prstGeom>
          <a:noFill/>
          <a:ln/>
        </p:spPr>
        <p:txBody>
          <a:bodyPr wrap="square" rtlCol="0" anchor="ctr"/>
          <a:lstStyle/>
          <a:p>
            <a:pPr marL="0" indent="0" algn="ctr">
              <a:buNone/>
            </a:pPr>
            <a:r>
              <a:rPr lang="en-US" sz="1500" b="1" dirty="0">
                <a:solidFill>
                  <a:srgbClr val="1A1A2E"/>
                </a:solidFill>
              </a:rPr>
              <a:t>Eval &amp; RAG</a:t>
            </a:r>
            <a:endParaRPr lang="en-US" sz="1500" dirty="0"/>
          </a:p>
        </p:txBody>
      </p:sp>
      <p:sp>
        <p:nvSpPr>
          <p:cNvPr id="24" name="Text 22"/>
          <p:cNvSpPr/>
          <p:nvPr/>
        </p:nvSpPr>
        <p:spPr>
          <a:xfrm>
            <a:off x="6263640" y="2788920"/>
            <a:ext cx="2286000" cy="1508760"/>
          </a:xfrm>
          <a:prstGeom prst="rect">
            <a:avLst/>
          </a:prstGeom>
          <a:noFill/>
          <a:ln/>
        </p:spPr>
        <p:txBody>
          <a:bodyPr wrap="square" rtlCol="0" anchor="t"/>
          <a:lstStyle/>
          <a:p>
            <a:pPr marL="0" indent="0" algn="ctr">
              <a:buNone/>
            </a:pPr>
            <a:r>
              <a:rPr lang="en-US" sz="1200" dirty="0">
                <a:solidFill>
                  <a:srgbClr val="5A6A8A"/>
                </a:solidFill>
              </a:rPr>
              <a:t>MAP + NDCG evaluation → RAG pipeline with GPT-4o-mini</a:t>
            </a:r>
            <a:endParaRPr lang="en-US" sz="1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Shape 0"/>
          <p:cNvSpPr/>
          <p:nvPr/>
        </p:nvSpPr>
        <p:spPr>
          <a:xfrm>
            <a:off x="502920" y="1463040"/>
            <a:ext cx="640080" cy="640080"/>
          </a:xfrm>
          <a:prstGeom prst="ellipse">
            <a:avLst/>
          </a:prstGeom>
          <a:solidFill>
            <a:srgbClr val="2E74B5"/>
          </a:solidFill>
          <a:ln/>
        </p:spPr>
        <p:txBody>
          <a:bodyPr/>
          <a:lstStyle/>
          <a:p>
            <a:endParaRPr lang="en-US"/>
          </a:p>
        </p:txBody>
      </p:sp>
      <p:sp>
        <p:nvSpPr>
          <p:cNvPr id="3" name="Text 1"/>
          <p:cNvSpPr/>
          <p:nvPr/>
        </p:nvSpPr>
        <p:spPr>
          <a:xfrm>
            <a:off x="502920" y="1463040"/>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rPr>
              <a:t>1</a:t>
            </a:r>
            <a:endParaRPr lang="en-US" sz="2000" dirty="0"/>
          </a:p>
        </p:txBody>
      </p:sp>
      <p:sp>
        <p:nvSpPr>
          <p:cNvPr id="4" name="Text 2"/>
          <p:cNvSpPr/>
          <p:nvPr/>
        </p:nvSpPr>
        <p:spPr>
          <a:xfrm>
            <a:off x="1371600" y="1417320"/>
            <a:ext cx="7132320" cy="685800"/>
          </a:xfrm>
          <a:prstGeom prst="rect">
            <a:avLst/>
          </a:prstGeom>
          <a:noFill/>
          <a:ln/>
        </p:spPr>
        <p:txBody>
          <a:bodyPr wrap="square" rtlCol="0" anchor="ctr"/>
          <a:lstStyle/>
          <a:p>
            <a:pPr marL="0" indent="0">
              <a:buNone/>
            </a:pPr>
            <a:r>
              <a:rPr lang="en-US" sz="3200" b="1" dirty="0">
                <a:solidFill>
                  <a:srgbClr val="FFFFFF"/>
                </a:solidFill>
              </a:rPr>
              <a:t>Classical Information Retrieval</a:t>
            </a:r>
            <a:endParaRPr lang="en-US" sz="3200" dirty="0"/>
          </a:p>
        </p:txBody>
      </p:sp>
      <p:sp>
        <p:nvSpPr>
          <p:cNvPr id="5" name="Text 3"/>
          <p:cNvSpPr/>
          <p:nvPr/>
        </p:nvSpPr>
        <p:spPr>
          <a:xfrm>
            <a:off x="1371600" y="2194560"/>
            <a:ext cx="7132320" cy="457200"/>
          </a:xfrm>
          <a:prstGeom prst="rect">
            <a:avLst/>
          </a:prstGeom>
          <a:noFill/>
          <a:ln/>
        </p:spPr>
        <p:txBody>
          <a:bodyPr wrap="square" rtlCol="0" anchor="ctr"/>
          <a:lstStyle/>
          <a:p>
            <a:pPr marL="0" indent="0">
              <a:buNone/>
            </a:pPr>
            <a:r>
              <a:rPr lang="en-US" sz="1600" i="1" dirty="0">
                <a:solidFill>
                  <a:schemeClr val="tx2">
                    <a:lumMod val="75000"/>
                  </a:schemeClr>
                </a:solidFill>
              </a:rPr>
              <a:t>Dataset · Preprocessing · Inverted Index · TF-IDF · Retrieval</a:t>
            </a:r>
            <a:endParaRPr lang="en-US" sz="1600" dirty="0">
              <a:solidFill>
                <a:schemeClr val="tx2">
                  <a:lumMod val="75000"/>
                </a:schemeClr>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D6E4F7"/>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rtlCol="0" anchor="ctr"/>
          <a:lstStyle/>
          <a:p>
            <a:pPr marL="0" indent="0">
              <a:buNone/>
            </a:pPr>
            <a:r>
              <a:rPr lang="en-US" sz="2600" b="1" dirty="0">
                <a:solidFill>
                  <a:srgbClr val="2E74B5"/>
                </a:solidFill>
              </a:rPr>
              <a:t>The Cranfield Dataset</a:t>
            </a:r>
            <a:endParaRPr lang="en-US" sz="2600" dirty="0"/>
          </a:p>
        </p:txBody>
      </p:sp>
      <p:sp>
        <p:nvSpPr>
          <p:cNvPr id="3" name="Shape 1"/>
          <p:cNvSpPr/>
          <p:nvPr/>
        </p:nvSpPr>
        <p:spPr>
          <a:xfrm>
            <a:off x="457200" y="777240"/>
            <a:ext cx="8229600" cy="27432"/>
          </a:xfrm>
          <a:prstGeom prst="rect">
            <a:avLst/>
          </a:prstGeom>
          <a:solidFill>
            <a:srgbClr val="2E74B5"/>
          </a:solidFill>
          <a:ln/>
        </p:spPr>
        <p:txBody>
          <a:bodyPr/>
          <a:lstStyle/>
          <a:p>
            <a:endParaRPr lang="en-US"/>
          </a:p>
        </p:txBody>
      </p:sp>
      <p:sp>
        <p:nvSpPr>
          <p:cNvPr id="4" name="Shape 2"/>
          <p:cNvSpPr/>
          <p:nvPr/>
        </p:nvSpPr>
        <p:spPr>
          <a:xfrm>
            <a:off x="457200" y="960120"/>
            <a:ext cx="2560320" cy="1188720"/>
          </a:xfrm>
          <a:prstGeom prst="rect">
            <a:avLst/>
          </a:prstGeom>
          <a:solidFill>
            <a:schemeClr val="accent1">
              <a:lumMod val="60000"/>
              <a:lumOff val="40000"/>
            </a:schemeClr>
          </a:solidFill>
          <a:ln/>
          <a:effectLst>
            <a:outerShdw blurRad="76200" dist="25400" dir="8100000" algn="bl" rotWithShape="0">
              <a:srgbClr val="000000">
                <a:alpha val="12000"/>
              </a:srgbClr>
            </a:outerShdw>
          </a:effectLst>
        </p:spPr>
        <p:txBody>
          <a:bodyPr/>
          <a:lstStyle/>
          <a:p>
            <a:endParaRPr lang="en-US" dirty="0"/>
          </a:p>
        </p:txBody>
      </p:sp>
      <p:sp>
        <p:nvSpPr>
          <p:cNvPr id="5" name="Text 3"/>
          <p:cNvSpPr/>
          <p:nvPr/>
        </p:nvSpPr>
        <p:spPr>
          <a:xfrm>
            <a:off x="457200" y="1005840"/>
            <a:ext cx="2560320" cy="685800"/>
          </a:xfrm>
          <a:prstGeom prst="rect">
            <a:avLst/>
          </a:prstGeom>
          <a:noFill/>
          <a:ln/>
        </p:spPr>
        <p:txBody>
          <a:bodyPr wrap="square" rtlCol="0" anchor="ctr"/>
          <a:lstStyle/>
          <a:p>
            <a:pPr marL="0" indent="0" algn="ctr">
              <a:buNone/>
            </a:pPr>
            <a:r>
              <a:rPr lang="en-US" sz="3400" b="1">
                <a:solidFill>
                  <a:schemeClr val="tx2">
                    <a:lumMod val="50000"/>
                  </a:schemeClr>
                </a:solidFill>
              </a:rPr>
              <a:t>1,400</a:t>
            </a:r>
            <a:endParaRPr lang="en-US" sz="3400">
              <a:solidFill>
                <a:schemeClr val="tx2">
                  <a:lumMod val="50000"/>
                </a:schemeClr>
              </a:solidFill>
            </a:endParaRPr>
          </a:p>
        </p:txBody>
      </p:sp>
      <p:sp>
        <p:nvSpPr>
          <p:cNvPr id="6" name="Text 4"/>
          <p:cNvSpPr/>
          <p:nvPr/>
        </p:nvSpPr>
        <p:spPr>
          <a:xfrm>
            <a:off x="457200" y="1691640"/>
            <a:ext cx="2560320" cy="365760"/>
          </a:xfrm>
          <a:prstGeom prst="rect">
            <a:avLst/>
          </a:prstGeom>
          <a:noFill/>
          <a:ln/>
        </p:spPr>
        <p:txBody>
          <a:bodyPr wrap="square" rtlCol="0" anchor="ctr"/>
          <a:lstStyle/>
          <a:p>
            <a:pPr marL="0" indent="0" algn="ctr">
              <a:buNone/>
            </a:pPr>
            <a:r>
              <a:rPr lang="en-US" sz="1300" dirty="0"/>
              <a:t>Documents</a:t>
            </a:r>
          </a:p>
        </p:txBody>
      </p:sp>
      <p:sp>
        <p:nvSpPr>
          <p:cNvPr id="7" name="Shape 5"/>
          <p:cNvSpPr/>
          <p:nvPr/>
        </p:nvSpPr>
        <p:spPr>
          <a:xfrm>
            <a:off x="3291840" y="960120"/>
            <a:ext cx="2560320" cy="1188720"/>
          </a:xfrm>
          <a:prstGeom prst="rect">
            <a:avLst/>
          </a:prstGeom>
          <a:solidFill>
            <a:schemeClr val="accent1">
              <a:lumMod val="60000"/>
              <a:lumOff val="40000"/>
            </a:schemeClr>
          </a:solidFill>
          <a:ln/>
          <a:effectLst>
            <a:outerShdw blurRad="76200" dist="25400" dir="8100000" algn="bl" rotWithShape="0">
              <a:srgbClr val="000000">
                <a:alpha val="12000"/>
              </a:srgbClr>
            </a:outerShdw>
          </a:effectLst>
        </p:spPr>
        <p:txBody>
          <a:bodyPr/>
          <a:lstStyle/>
          <a:p>
            <a:endParaRPr lang="en-US"/>
          </a:p>
        </p:txBody>
      </p:sp>
      <p:sp>
        <p:nvSpPr>
          <p:cNvPr id="8" name="Text 6"/>
          <p:cNvSpPr/>
          <p:nvPr/>
        </p:nvSpPr>
        <p:spPr>
          <a:xfrm>
            <a:off x="3291840" y="1005840"/>
            <a:ext cx="2560320" cy="685800"/>
          </a:xfrm>
          <a:prstGeom prst="rect">
            <a:avLst/>
          </a:prstGeom>
          <a:noFill/>
          <a:ln/>
        </p:spPr>
        <p:txBody>
          <a:bodyPr wrap="square" rtlCol="0" anchor="ctr"/>
          <a:lstStyle/>
          <a:p>
            <a:pPr marL="0" indent="0" algn="ctr">
              <a:buNone/>
            </a:pPr>
            <a:r>
              <a:rPr lang="en-US" sz="3400" b="1">
                <a:solidFill>
                  <a:schemeClr val="tx2">
                    <a:lumMod val="50000"/>
                  </a:schemeClr>
                </a:solidFill>
              </a:rPr>
              <a:t>225</a:t>
            </a:r>
            <a:endParaRPr lang="en-US" sz="3400">
              <a:solidFill>
                <a:schemeClr val="tx2">
                  <a:lumMod val="50000"/>
                </a:schemeClr>
              </a:solidFill>
            </a:endParaRPr>
          </a:p>
        </p:txBody>
      </p:sp>
      <p:sp>
        <p:nvSpPr>
          <p:cNvPr id="9" name="Text 7"/>
          <p:cNvSpPr/>
          <p:nvPr/>
        </p:nvSpPr>
        <p:spPr>
          <a:xfrm>
            <a:off x="3291840" y="1691640"/>
            <a:ext cx="2560320" cy="365760"/>
          </a:xfrm>
          <a:prstGeom prst="rect">
            <a:avLst/>
          </a:prstGeom>
          <a:noFill/>
          <a:ln/>
        </p:spPr>
        <p:txBody>
          <a:bodyPr wrap="square" rtlCol="0" anchor="ctr"/>
          <a:lstStyle/>
          <a:p>
            <a:pPr marL="0" indent="0" algn="ctr">
              <a:buNone/>
            </a:pPr>
            <a:r>
              <a:rPr lang="en-US" sz="1300" dirty="0"/>
              <a:t>Test Queries</a:t>
            </a:r>
          </a:p>
        </p:txBody>
      </p:sp>
      <p:sp>
        <p:nvSpPr>
          <p:cNvPr id="10" name="Shape 8"/>
          <p:cNvSpPr/>
          <p:nvPr/>
        </p:nvSpPr>
        <p:spPr>
          <a:xfrm>
            <a:off x="6126480" y="960120"/>
            <a:ext cx="2560320" cy="1188720"/>
          </a:xfrm>
          <a:prstGeom prst="rect">
            <a:avLst/>
          </a:prstGeom>
          <a:solidFill>
            <a:schemeClr val="accent1">
              <a:lumMod val="60000"/>
              <a:lumOff val="40000"/>
            </a:schemeClr>
          </a:solidFill>
          <a:ln/>
          <a:effectLst>
            <a:outerShdw blurRad="76200" dist="25400" dir="8100000" algn="bl" rotWithShape="0">
              <a:srgbClr val="000000">
                <a:alpha val="12000"/>
              </a:srgbClr>
            </a:outerShdw>
          </a:effectLst>
        </p:spPr>
        <p:txBody>
          <a:bodyPr/>
          <a:lstStyle/>
          <a:p>
            <a:endParaRPr lang="en-US"/>
          </a:p>
        </p:txBody>
      </p:sp>
      <p:sp>
        <p:nvSpPr>
          <p:cNvPr id="11" name="Text 9"/>
          <p:cNvSpPr/>
          <p:nvPr/>
        </p:nvSpPr>
        <p:spPr>
          <a:xfrm>
            <a:off x="6126480" y="1005840"/>
            <a:ext cx="2560320" cy="685800"/>
          </a:xfrm>
          <a:prstGeom prst="rect">
            <a:avLst/>
          </a:prstGeom>
          <a:noFill/>
          <a:ln/>
        </p:spPr>
        <p:txBody>
          <a:bodyPr wrap="square" rtlCol="0" anchor="ctr"/>
          <a:lstStyle/>
          <a:p>
            <a:pPr marL="0" indent="0" algn="ctr">
              <a:buNone/>
            </a:pPr>
            <a:r>
              <a:rPr lang="en-US" sz="3400" b="1">
                <a:solidFill>
                  <a:schemeClr val="tx2">
                    <a:lumMod val="50000"/>
                  </a:schemeClr>
                </a:solidFill>
              </a:rPr>
              <a:t>5,656</a:t>
            </a:r>
            <a:endParaRPr lang="en-US" sz="3400">
              <a:solidFill>
                <a:schemeClr val="tx2">
                  <a:lumMod val="50000"/>
                </a:schemeClr>
              </a:solidFill>
            </a:endParaRPr>
          </a:p>
        </p:txBody>
      </p:sp>
      <p:sp>
        <p:nvSpPr>
          <p:cNvPr id="12" name="Text 10"/>
          <p:cNvSpPr/>
          <p:nvPr/>
        </p:nvSpPr>
        <p:spPr>
          <a:xfrm>
            <a:off x="6126480" y="1691640"/>
            <a:ext cx="2560320" cy="365760"/>
          </a:xfrm>
          <a:prstGeom prst="rect">
            <a:avLst/>
          </a:prstGeom>
          <a:noFill/>
          <a:ln/>
        </p:spPr>
        <p:txBody>
          <a:bodyPr wrap="square" rtlCol="0" anchor="ctr"/>
          <a:lstStyle/>
          <a:p>
            <a:pPr marL="0" indent="0" algn="ctr">
              <a:buNone/>
            </a:pPr>
            <a:r>
              <a:rPr lang="en-US" sz="1300" dirty="0"/>
              <a:t>Unique Terms</a:t>
            </a:r>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331720"/>
          <a:ext cx="8229600" cy="2011680"/>
        </p:xfrm>
        <a:graphic>
          <a:graphicData uri="http://schemas.openxmlformats.org/drawingml/2006/table">
            <a:tbl>
              <a:tblPr/>
              <a:tblGrid>
                <a:gridCol w="228600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tblGrid>
              <a:tr h="502920">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File</a:t>
                      </a:r>
                      <a:endParaRPr lang="en-US" sz="1300" dirty="0">
                        <a:latin typeface="Calibri" charset="0"/>
                        <a:ea typeface="Calibri" charset="0"/>
                        <a:cs typeface="Calibri"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2E74B5"/>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Content</a:t>
                      </a:r>
                      <a:endParaRPr lang="en-US" sz="1300" dirty="0">
                        <a:latin typeface="Calibri" charset="0"/>
                        <a:ea typeface="Calibri" charset="0"/>
                        <a:cs typeface="Calibri"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2E74B5"/>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Used For</a:t>
                      </a:r>
                      <a:endParaRPr lang="en-US" sz="1300" dirty="0">
                        <a:latin typeface="Calibri" charset="0"/>
                        <a:ea typeface="Calibri" charset="0"/>
                        <a:cs typeface="Calibri"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2E74B5"/>
                    </a:solidFill>
                  </a:tcPr>
                </a:tc>
                <a:extLst>
                  <a:ext uri="{0D108BD9-81ED-4DB2-BD59-A6C34878D82A}">
                    <a16:rowId xmlns:a16="http://schemas.microsoft.com/office/drawing/2014/main" val="10000"/>
                  </a:ext>
                </a:extLst>
              </a:tr>
              <a:tr h="502920">
                <a:tc>
                  <a:txBody>
                    <a:bodyPr/>
                    <a:lstStyle/>
                    <a:p>
                      <a:pPr marL="0" indent="0" algn="l">
                        <a:buNone/>
                      </a:pPr>
                      <a:r>
                        <a:rPr lang="en-US" sz="1300" dirty="0">
                          <a:solidFill>
                            <a:srgbClr val="000000"/>
                          </a:solidFill>
                          <a:latin typeface="Calibri" pitchFamily="34" charset="0"/>
                          <a:ea typeface="Calibri" pitchFamily="34" charset="-122"/>
                          <a:cs typeface="Calibri" pitchFamily="34" charset="-120"/>
                        </a:rPr>
                        <a:t>cran.all.1400</a:t>
                      </a:r>
                      <a:endParaRPr lang="en-US" sz="1300" dirty="0">
                        <a:latin typeface="Calibri" charset="0"/>
                        <a:ea typeface="Calibri" charset="0"/>
                        <a:cs typeface="Calibri"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tc>
                  <a:txBody>
                    <a:bodyPr/>
                    <a:lstStyle/>
                    <a:p>
                      <a:pPr marL="0" indent="0" algn="l">
                        <a:buNone/>
                      </a:pPr>
                      <a:r>
                        <a:rPr lang="en-US" sz="1300" dirty="0">
                          <a:solidFill>
                            <a:srgbClr val="000000"/>
                          </a:solidFill>
                          <a:latin typeface="Calibri" pitchFamily="34" charset="0"/>
                          <a:ea typeface="Calibri" pitchFamily="34" charset="-122"/>
                          <a:cs typeface="Calibri" pitchFamily="34" charset="-120"/>
                        </a:rPr>
                        <a:t>1400 aerodynamics abstracts</a:t>
                      </a:r>
                      <a:endParaRPr lang="en-US" sz="1300" dirty="0">
                        <a:latin typeface="Calibri" charset="0"/>
                        <a:ea typeface="Calibri" charset="0"/>
                        <a:cs typeface="Calibri"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tc>
                  <a:txBody>
                    <a:bodyPr/>
                    <a:lstStyle/>
                    <a:p>
                      <a:pPr marL="0" indent="0" algn="l">
                        <a:buNone/>
                      </a:pPr>
                      <a:r>
                        <a:rPr lang="en-US" sz="1300" dirty="0">
                          <a:solidFill>
                            <a:srgbClr val="000000"/>
                          </a:solidFill>
                          <a:latin typeface="Calibri" pitchFamily="34" charset="0"/>
                          <a:ea typeface="Calibri" pitchFamily="34" charset="-122"/>
                          <a:cs typeface="Calibri" pitchFamily="34" charset="-120"/>
                        </a:rPr>
                        <a:t>Document collection</a:t>
                      </a:r>
                      <a:endParaRPr lang="en-US" sz="1300" dirty="0">
                        <a:latin typeface="Calibri" charset="0"/>
                        <a:ea typeface="Calibri" charset="0"/>
                        <a:cs typeface="Calibri"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300" dirty="0">
                          <a:solidFill>
                            <a:srgbClr val="000000"/>
                          </a:solidFill>
                          <a:latin typeface="Calibri" pitchFamily="34" charset="0"/>
                          <a:ea typeface="Calibri" pitchFamily="34" charset="-122"/>
                          <a:cs typeface="Calibri" pitchFamily="34" charset="-120"/>
                        </a:rPr>
                        <a:t>cran.qry</a:t>
                      </a:r>
                      <a:endParaRPr lang="en-US" sz="1300" dirty="0">
                        <a:latin typeface="Calibri" charset="0"/>
                        <a:ea typeface="Calibri" charset="0"/>
                        <a:cs typeface="Calibri"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tc>
                  <a:txBody>
                    <a:bodyPr/>
                    <a:lstStyle/>
                    <a:p>
                      <a:pPr marL="0" indent="0" algn="l">
                        <a:buNone/>
                      </a:pPr>
                      <a:r>
                        <a:rPr lang="en-US" sz="1300" dirty="0">
                          <a:solidFill>
                            <a:srgbClr val="000000"/>
                          </a:solidFill>
                          <a:latin typeface="Calibri" pitchFamily="34" charset="0"/>
                          <a:ea typeface="Calibri" pitchFamily="34" charset="-122"/>
                          <a:cs typeface="Calibri" pitchFamily="34" charset="-120"/>
                        </a:rPr>
                        <a:t>225 test queries</a:t>
                      </a:r>
                      <a:endParaRPr lang="en-US" sz="1300" dirty="0">
                        <a:latin typeface="Calibri" charset="0"/>
                        <a:ea typeface="Calibri" charset="0"/>
                        <a:cs typeface="Calibri"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tc>
                  <a:txBody>
                    <a:bodyPr/>
                    <a:lstStyle/>
                    <a:p>
                      <a:pPr marL="0" indent="0" algn="l">
                        <a:buNone/>
                      </a:pPr>
                      <a:r>
                        <a:rPr lang="en-US" sz="1300" dirty="0">
                          <a:solidFill>
                            <a:srgbClr val="000000"/>
                          </a:solidFill>
                          <a:latin typeface="Calibri" pitchFamily="34" charset="0"/>
                          <a:ea typeface="Calibri" pitchFamily="34" charset="-122"/>
                          <a:cs typeface="Calibri" pitchFamily="34" charset="-120"/>
                        </a:rPr>
                        <a:t>Search queries</a:t>
                      </a:r>
                      <a:endParaRPr lang="en-US" sz="1300" dirty="0">
                        <a:latin typeface="Calibri" charset="0"/>
                        <a:ea typeface="Calibri" charset="0"/>
                        <a:cs typeface="Calibri"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lgn="l">
                        <a:buNone/>
                      </a:pPr>
                      <a:r>
                        <a:rPr lang="en-US" sz="1300" dirty="0">
                          <a:solidFill>
                            <a:srgbClr val="000000"/>
                          </a:solidFill>
                          <a:latin typeface="Calibri" pitchFamily="34" charset="0"/>
                          <a:ea typeface="Calibri" pitchFamily="34" charset="-122"/>
                          <a:cs typeface="Calibri" pitchFamily="34" charset="-120"/>
                        </a:rPr>
                        <a:t>cranqrel</a:t>
                      </a:r>
                      <a:endParaRPr lang="en-US" sz="1300" dirty="0">
                        <a:latin typeface="Calibri" charset="0"/>
                        <a:ea typeface="Calibri" charset="0"/>
                        <a:cs typeface="Calibri"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tc>
                  <a:txBody>
                    <a:bodyPr/>
                    <a:lstStyle/>
                    <a:p>
                      <a:pPr marL="0" indent="0" algn="l">
                        <a:buNone/>
                      </a:pPr>
                      <a:r>
                        <a:rPr lang="en-US" sz="1300" dirty="0">
                          <a:solidFill>
                            <a:srgbClr val="000000"/>
                          </a:solidFill>
                          <a:latin typeface="Calibri" pitchFamily="34" charset="0"/>
                          <a:ea typeface="Calibri" pitchFamily="34" charset="-122"/>
                          <a:cs typeface="Calibri" pitchFamily="34" charset="-120"/>
                        </a:rPr>
                        <a:t>Relevance judgments (1–4, -1)</a:t>
                      </a:r>
                      <a:endParaRPr lang="en-US" sz="1300" dirty="0">
                        <a:latin typeface="Calibri" charset="0"/>
                        <a:ea typeface="Calibri" charset="0"/>
                        <a:cs typeface="Calibri"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tc>
                  <a:txBody>
                    <a:bodyPr/>
                    <a:lstStyle/>
                    <a:p>
                      <a:pPr marL="0" indent="0" algn="l">
                        <a:buNone/>
                      </a:pPr>
                      <a:r>
                        <a:rPr lang="en-US" sz="1300" dirty="0">
                          <a:solidFill>
                            <a:srgbClr val="000000"/>
                          </a:solidFill>
                          <a:latin typeface="Calibri" pitchFamily="34" charset="0"/>
                          <a:ea typeface="Calibri" pitchFamily="34" charset="-122"/>
                          <a:cs typeface="Calibri" pitchFamily="34" charset="-120"/>
                        </a:rPr>
                        <a:t>Ground truth evaluation</a:t>
                      </a:r>
                      <a:endParaRPr lang="en-US" sz="1300" dirty="0">
                        <a:latin typeface="Calibri" charset="0"/>
                        <a:ea typeface="Calibri" charset="0"/>
                        <a:cs typeface="Calibri"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p159:morph option="byObject"/>
      </p:transition>
    </mc:Choice>
    <mc:Fallback>
      <p:transition spd="slow" advClick="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D6E4F7"/>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rtlCol="0" anchor="ctr"/>
          <a:lstStyle/>
          <a:p>
            <a:pPr marL="0" indent="0">
              <a:buNone/>
            </a:pPr>
            <a:r>
              <a:rPr lang="en-US" sz="2600" b="1" dirty="0">
                <a:solidFill>
                  <a:srgbClr val="2E74B5"/>
                </a:solidFill>
              </a:rPr>
              <a:t>Text Preprocessing Pipeline</a:t>
            </a:r>
            <a:endParaRPr lang="en-US" sz="2600" dirty="0"/>
          </a:p>
        </p:txBody>
      </p:sp>
      <p:sp>
        <p:nvSpPr>
          <p:cNvPr id="3" name="Shape 1"/>
          <p:cNvSpPr/>
          <p:nvPr/>
        </p:nvSpPr>
        <p:spPr>
          <a:xfrm>
            <a:off x="457200" y="777240"/>
            <a:ext cx="8229600" cy="27432"/>
          </a:xfrm>
          <a:prstGeom prst="rect">
            <a:avLst/>
          </a:prstGeom>
          <a:solidFill>
            <a:srgbClr val="2E74B5"/>
          </a:solidFill>
          <a:ln/>
        </p:spPr>
        <p:txBody>
          <a:bodyPr/>
          <a:lstStyle/>
          <a:p>
            <a:endParaRPr lang="en-US"/>
          </a:p>
        </p:txBody>
      </p:sp>
      <p:sp>
        <p:nvSpPr>
          <p:cNvPr id="4" name="Shape 2"/>
          <p:cNvSpPr/>
          <p:nvPr/>
        </p:nvSpPr>
        <p:spPr>
          <a:xfrm>
            <a:off x="365760" y="1005840"/>
            <a:ext cx="1371600" cy="1371600"/>
          </a:xfrm>
          <a:prstGeom prst="ellipse">
            <a:avLst/>
          </a:prstGeom>
          <a:solidFill>
            <a:schemeClr val="accent1">
              <a:lumMod val="60000"/>
              <a:lumOff val="40000"/>
            </a:schemeClr>
          </a:solidFill>
          <a:ln/>
        </p:spPr>
        <p:txBody>
          <a:bodyPr/>
          <a:lstStyle/>
          <a:p>
            <a:endParaRPr lang="en-US"/>
          </a:p>
        </p:txBody>
      </p:sp>
      <p:sp>
        <p:nvSpPr>
          <p:cNvPr id="5" name="Text 3"/>
          <p:cNvSpPr/>
          <p:nvPr/>
        </p:nvSpPr>
        <p:spPr>
          <a:xfrm>
            <a:off x="365760" y="1005840"/>
            <a:ext cx="1371600" cy="548640"/>
          </a:xfrm>
          <a:prstGeom prst="rect">
            <a:avLst/>
          </a:prstGeom>
          <a:noFill/>
          <a:ln/>
        </p:spPr>
        <p:txBody>
          <a:bodyPr wrap="square" lIns="0" tIns="0" rIns="0" bIns="0" rtlCol="0" anchor="ctr"/>
          <a:lstStyle/>
          <a:p>
            <a:pPr marL="0" indent="0" algn="ctr">
              <a:buNone/>
            </a:pPr>
            <a:r>
              <a:rPr lang="en-US" sz="2400" b="1">
                <a:solidFill>
                  <a:schemeClr val="accent1">
                    <a:lumMod val="50000"/>
                  </a:schemeClr>
                </a:solidFill>
              </a:rPr>
              <a:t>1</a:t>
            </a:r>
            <a:endParaRPr lang="en-US" sz="2400">
              <a:solidFill>
                <a:schemeClr val="accent1">
                  <a:lumMod val="50000"/>
                </a:schemeClr>
              </a:solidFill>
            </a:endParaRPr>
          </a:p>
        </p:txBody>
      </p:sp>
      <p:sp>
        <p:nvSpPr>
          <p:cNvPr id="6" name="Text 4"/>
          <p:cNvSpPr/>
          <p:nvPr/>
        </p:nvSpPr>
        <p:spPr>
          <a:xfrm>
            <a:off x="274320" y="1536192"/>
            <a:ext cx="1554480" cy="777240"/>
          </a:xfrm>
          <a:prstGeom prst="rect">
            <a:avLst/>
          </a:prstGeom>
          <a:noFill/>
          <a:ln/>
        </p:spPr>
        <p:txBody>
          <a:bodyPr wrap="square" rtlCol="0" anchor="ctr"/>
          <a:lstStyle/>
          <a:p>
            <a:pPr marL="0" indent="0" algn="ctr">
              <a:buNone/>
            </a:pPr>
            <a:r>
              <a:rPr lang="en-US" sz="1100">
                <a:solidFill>
                  <a:schemeClr val="tx2">
                    <a:lumMod val="50000"/>
                  </a:schemeClr>
                </a:solidFill>
              </a:rPr>
              <a:t>Lowercase</a:t>
            </a:r>
          </a:p>
          <a:p>
            <a:pPr marL="0" indent="0" algn="ctr">
              <a:buNone/>
            </a:pPr>
            <a:r>
              <a:rPr lang="en-US" sz="1100">
                <a:solidFill>
                  <a:schemeClr val="tx2">
                    <a:lumMod val="50000"/>
                  </a:schemeClr>
                </a:solidFill>
              </a:rPr>
              <a:t>+ Remove</a:t>
            </a:r>
          </a:p>
          <a:p>
            <a:pPr marL="0" indent="0" algn="ctr">
              <a:buNone/>
            </a:pPr>
            <a:r>
              <a:rPr lang="en-US" sz="1100">
                <a:solidFill>
                  <a:schemeClr val="tx2">
                    <a:lumMod val="50000"/>
                  </a:schemeClr>
                </a:solidFill>
              </a:rPr>
              <a:t>numbers/punct</a:t>
            </a:r>
          </a:p>
        </p:txBody>
      </p:sp>
      <p:sp>
        <p:nvSpPr>
          <p:cNvPr id="7" name="Shape 5"/>
          <p:cNvSpPr/>
          <p:nvPr/>
        </p:nvSpPr>
        <p:spPr>
          <a:xfrm>
            <a:off x="1783080" y="1673352"/>
            <a:ext cx="594360" cy="0"/>
          </a:xfrm>
          <a:prstGeom prst="line">
            <a:avLst/>
          </a:prstGeom>
          <a:noFill/>
          <a:ln w="25400">
            <a:solidFill>
              <a:srgbClr val="2E74B5"/>
            </a:solidFill>
            <a:prstDash val="solid"/>
          </a:ln>
        </p:spPr>
        <p:txBody>
          <a:bodyPr/>
          <a:lstStyle/>
          <a:p>
            <a:endParaRPr lang="en-US"/>
          </a:p>
        </p:txBody>
      </p:sp>
      <p:sp>
        <p:nvSpPr>
          <p:cNvPr id="8" name="Shape 6"/>
          <p:cNvSpPr/>
          <p:nvPr/>
        </p:nvSpPr>
        <p:spPr>
          <a:xfrm>
            <a:off x="2468880" y="1005840"/>
            <a:ext cx="1371600" cy="1371600"/>
          </a:xfrm>
          <a:prstGeom prst="ellipse">
            <a:avLst/>
          </a:prstGeom>
          <a:solidFill>
            <a:schemeClr val="accent1">
              <a:lumMod val="60000"/>
              <a:lumOff val="40000"/>
            </a:schemeClr>
          </a:solidFill>
          <a:ln/>
        </p:spPr>
        <p:txBody>
          <a:bodyPr/>
          <a:lstStyle/>
          <a:p>
            <a:endParaRPr lang="en-US"/>
          </a:p>
        </p:txBody>
      </p:sp>
      <p:sp>
        <p:nvSpPr>
          <p:cNvPr id="9" name="Text 7"/>
          <p:cNvSpPr/>
          <p:nvPr/>
        </p:nvSpPr>
        <p:spPr>
          <a:xfrm>
            <a:off x="2468880" y="1005840"/>
            <a:ext cx="1371600" cy="548640"/>
          </a:xfrm>
          <a:prstGeom prst="rect">
            <a:avLst/>
          </a:prstGeom>
          <a:noFill/>
          <a:ln/>
        </p:spPr>
        <p:txBody>
          <a:bodyPr wrap="square" lIns="0" tIns="0" rIns="0" bIns="0" rtlCol="0" anchor="ctr"/>
          <a:lstStyle/>
          <a:p>
            <a:pPr marL="0" indent="0" algn="ctr">
              <a:buNone/>
            </a:pPr>
            <a:r>
              <a:rPr lang="en-US" sz="2400" b="1">
                <a:solidFill>
                  <a:schemeClr val="accent1">
                    <a:lumMod val="50000"/>
                  </a:schemeClr>
                </a:solidFill>
              </a:rPr>
              <a:t>2</a:t>
            </a:r>
            <a:endParaRPr lang="en-US" sz="2400">
              <a:solidFill>
                <a:schemeClr val="accent1">
                  <a:lumMod val="50000"/>
                </a:schemeClr>
              </a:solidFill>
            </a:endParaRPr>
          </a:p>
        </p:txBody>
      </p:sp>
      <p:sp>
        <p:nvSpPr>
          <p:cNvPr id="10" name="Text 8"/>
          <p:cNvSpPr/>
          <p:nvPr/>
        </p:nvSpPr>
        <p:spPr>
          <a:xfrm>
            <a:off x="2377440" y="1536192"/>
            <a:ext cx="1554480" cy="777240"/>
          </a:xfrm>
          <a:prstGeom prst="rect">
            <a:avLst/>
          </a:prstGeom>
          <a:noFill/>
          <a:ln/>
        </p:spPr>
        <p:txBody>
          <a:bodyPr wrap="square" rtlCol="0" anchor="ctr"/>
          <a:lstStyle/>
          <a:p>
            <a:pPr marL="0" indent="0" algn="ctr">
              <a:buNone/>
            </a:pPr>
            <a:r>
              <a:rPr lang="en-US" sz="1100">
                <a:solidFill>
                  <a:schemeClr val="tx2">
                    <a:lumMod val="50000"/>
                  </a:schemeClr>
                </a:solidFill>
              </a:rPr>
              <a:t>Tokenize</a:t>
            </a:r>
          </a:p>
        </p:txBody>
      </p:sp>
      <p:sp>
        <p:nvSpPr>
          <p:cNvPr id="11" name="Shape 9"/>
          <p:cNvSpPr/>
          <p:nvPr/>
        </p:nvSpPr>
        <p:spPr>
          <a:xfrm>
            <a:off x="3886200" y="1673352"/>
            <a:ext cx="594360" cy="0"/>
          </a:xfrm>
          <a:prstGeom prst="line">
            <a:avLst/>
          </a:prstGeom>
          <a:noFill/>
          <a:ln w="25400">
            <a:solidFill>
              <a:srgbClr val="2E74B5"/>
            </a:solidFill>
            <a:prstDash val="solid"/>
          </a:ln>
        </p:spPr>
        <p:txBody>
          <a:bodyPr/>
          <a:lstStyle/>
          <a:p>
            <a:endParaRPr lang="en-US"/>
          </a:p>
        </p:txBody>
      </p:sp>
      <p:sp>
        <p:nvSpPr>
          <p:cNvPr id="12" name="Shape 10"/>
          <p:cNvSpPr/>
          <p:nvPr/>
        </p:nvSpPr>
        <p:spPr>
          <a:xfrm>
            <a:off x="4572000" y="1005840"/>
            <a:ext cx="1371600" cy="1371600"/>
          </a:xfrm>
          <a:prstGeom prst="ellipse">
            <a:avLst/>
          </a:prstGeom>
          <a:solidFill>
            <a:schemeClr val="accent1">
              <a:lumMod val="60000"/>
              <a:lumOff val="40000"/>
            </a:schemeClr>
          </a:solidFill>
          <a:ln/>
        </p:spPr>
        <p:txBody>
          <a:bodyPr/>
          <a:lstStyle/>
          <a:p>
            <a:endParaRPr lang="en-US"/>
          </a:p>
        </p:txBody>
      </p:sp>
      <p:sp>
        <p:nvSpPr>
          <p:cNvPr id="13" name="Text 11"/>
          <p:cNvSpPr/>
          <p:nvPr/>
        </p:nvSpPr>
        <p:spPr>
          <a:xfrm>
            <a:off x="4572000" y="1005840"/>
            <a:ext cx="1371600" cy="548640"/>
          </a:xfrm>
          <a:prstGeom prst="rect">
            <a:avLst/>
          </a:prstGeom>
          <a:noFill/>
          <a:ln/>
        </p:spPr>
        <p:txBody>
          <a:bodyPr wrap="square" lIns="0" tIns="0" rIns="0" bIns="0" rtlCol="0" anchor="ctr"/>
          <a:lstStyle/>
          <a:p>
            <a:pPr marL="0" indent="0" algn="ctr">
              <a:buNone/>
            </a:pPr>
            <a:r>
              <a:rPr lang="en-US" sz="2400" b="1">
                <a:solidFill>
                  <a:schemeClr val="accent1">
                    <a:lumMod val="50000"/>
                  </a:schemeClr>
                </a:solidFill>
              </a:rPr>
              <a:t>3</a:t>
            </a:r>
            <a:endParaRPr lang="en-US" sz="2400">
              <a:solidFill>
                <a:schemeClr val="accent1">
                  <a:lumMod val="50000"/>
                </a:schemeClr>
              </a:solidFill>
            </a:endParaRPr>
          </a:p>
        </p:txBody>
      </p:sp>
      <p:sp>
        <p:nvSpPr>
          <p:cNvPr id="14" name="Text 12"/>
          <p:cNvSpPr/>
          <p:nvPr/>
        </p:nvSpPr>
        <p:spPr>
          <a:xfrm>
            <a:off x="4480560" y="1536192"/>
            <a:ext cx="1554480" cy="777240"/>
          </a:xfrm>
          <a:prstGeom prst="rect">
            <a:avLst/>
          </a:prstGeom>
          <a:noFill/>
          <a:ln/>
        </p:spPr>
        <p:txBody>
          <a:bodyPr wrap="square" rtlCol="0" anchor="ctr"/>
          <a:lstStyle/>
          <a:p>
            <a:pPr marL="0" indent="0" algn="ctr">
              <a:buNone/>
            </a:pPr>
            <a:r>
              <a:rPr lang="en-US" sz="1100">
                <a:solidFill>
                  <a:schemeClr val="tx2">
                    <a:lumMod val="50000"/>
                  </a:schemeClr>
                </a:solidFill>
              </a:rPr>
              <a:t>Remove</a:t>
            </a:r>
          </a:p>
          <a:p>
            <a:pPr marL="0" indent="0" algn="ctr">
              <a:buNone/>
            </a:pPr>
            <a:r>
              <a:rPr lang="en-US" sz="1100">
                <a:solidFill>
                  <a:schemeClr val="tx2">
                    <a:lumMod val="50000"/>
                  </a:schemeClr>
                </a:solidFill>
              </a:rPr>
              <a:t>Stopwords</a:t>
            </a:r>
          </a:p>
        </p:txBody>
      </p:sp>
      <p:sp>
        <p:nvSpPr>
          <p:cNvPr id="15" name="Shape 13"/>
          <p:cNvSpPr/>
          <p:nvPr/>
        </p:nvSpPr>
        <p:spPr>
          <a:xfrm>
            <a:off x="5989320" y="1673352"/>
            <a:ext cx="594360" cy="0"/>
          </a:xfrm>
          <a:prstGeom prst="line">
            <a:avLst/>
          </a:prstGeom>
          <a:noFill/>
          <a:ln w="25400">
            <a:solidFill>
              <a:srgbClr val="2E74B5"/>
            </a:solidFill>
            <a:prstDash val="solid"/>
          </a:ln>
        </p:spPr>
        <p:txBody>
          <a:bodyPr/>
          <a:lstStyle/>
          <a:p>
            <a:endParaRPr lang="en-US"/>
          </a:p>
        </p:txBody>
      </p:sp>
      <p:sp>
        <p:nvSpPr>
          <p:cNvPr id="16" name="Shape 14"/>
          <p:cNvSpPr/>
          <p:nvPr/>
        </p:nvSpPr>
        <p:spPr>
          <a:xfrm>
            <a:off x="6675120" y="1005840"/>
            <a:ext cx="1371600" cy="1371600"/>
          </a:xfrm>
          <a:prstGeom prst="ellipse">
            <a:avLst/>
          </a:prstGeom>
          <a:solidFill>
            <a:schemeClr val="accent1">
              <a:lumMod val="60000"/>
              <a:lumOff val="40000"/>
            </a:schemeClr>
          </a:solidFill>
          <a:ln/>
        </p:spPr>
        <p:txBody>
          <a:bodyPr/>
          <a:lstStyle/>
          <a:p>
            <a:endParaRPr lang="en-US"/>
          </a:p>
        </p:txBody>
      </p:sp>
      <p:sp>
        <p:nvSpPr>
          <p:cNvPr id="17" name="Text 15"/>
          <p:cNvSpPr/>
          <p:nvPr/>
        </p:nvSpPr>
        <p:spPr>
          <a:xfrm>
            <a:off x="6675120" y="1005840"/>
            <a:ext cx="1371600" cy="548640"/>
          </a:xfrm>
          <a:prstGeom prst="rect">
            <a:avLst/>
          </a:prstGeom>
          <a:noFill/>
          <a:ln/>
        </p:spPr>
        <p:txBody>
          <a:bodyPr wrap="square" lIns="0" tIns="0" rIns="0" bIns="0" rtlCol="0" anchor="ctr"/>
          <a:lstStyle/>
          <a:p>
            <a:pPr marL="0" indent="0" algn="ctr">
              <a:buNone/>
            </a:pPr>
            <a:r>
              <a:rPr lang="en-US" sz="2400" b="1">
                <a:solidFill>
                  <a:schemeClr val="accent1">
                    <a:lumMod val="50000"/>
                  </a:schemeClr>
                </a:solidFill>
              </a:rPr>
              <a:t>4</a:t>
            </a:r>
            <a:endParaRPr lang="en-US" sz="2400">
              <a:solidFill>
                <a:schemeClr val="accent1">
                  <a:lumMod val="50000"/>
                </a:schemeClr>
              </a:solidFill>
            </a:endParaRPr>
          </a:p>
        </p:txBody>
      </p:sp>
      <p:sp>
        <p:nvSpPr>
          <p:cNvPr id="18" name="Text 16"/>
          <p:cNvSpPr/>
          <p:nvPr/>
        </p:nvSpPr>
        <p:spPr>
          <a:xfrm>
            <a:off x="6583680" y="1536192"/>
            <a:ext cx="1554480" cy="777240"/>
          </a:xfrm>
          <a:prstGeom prst="rect">
            <a:avLst/>
          </a:prstGeom>
          <a:noFill/>
          <a:ln/>
        </p:spPr>
        <p:txBody>
          <a:bodyPr wrap="square" rtlCol="0" anchor="ctr"/>
          <a:lstStyle/>
          <a:p>
            <a:pPr marL="0" indent="0" algn="ctr">
              <a:buNone/>
            </a:pPr>
            <a:r>
              <a:rPr lang="en-US" sz="1100">
                <a:solidFill>
                  <a:schemeClr val="tx2">
                    <a:lumMod val="50000"/>
                  </a:schemeClr>
                </a:solidFill>
              </a:rPr>
              <a:t>Stem</a:t>
            </a:r>
          </a:p>
          <a:p>
            <a:pPr marL="0" indent="0" algn="ctr">
              <a:buNone/>
            </a:pPr>
            <a:r>
              <a:rPr lang="en-US" sz="1100">
                <a:solidFill>
                  <a:schemeClr val="tx2">
                    <a:lumMod val="50000"/>
                  </a:schemeClr>
                </a:solidFill>
              </a:rPr>
              <a:t>(Porter)</a:t>
            </a:r>
          </a:p>
        </p:txBody>
      </p:sp>
      <p:sp>
        <p:nvSpPr>
          <p:cNvPr id="19" name="Shape 17"/>
          <p:cNvSpPr/>
          <p:nvPr/>
        </p:nvSpPr>
        <p:spPr>
          <a:xfrm>
            <a:off x="457200" y="2651760"/>
            <a:ext cx="8229600" cy="224028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20" name="Text 18"/>
          <p:cNvSpPr/>
          <p:nvPr/>
        </p:nvSpPr>
        <p:spPr>
          <a:xfrm>
            <a:off x="640080" y="2743200"/>
            <a:ext cx="1828800" cy="320040"/>
          </a:xfrm>
          <a:prstGeom prst="rect">
            <a:avLst/>
          </a:prstGeom>
          <a:noFill/>
          <a:ln/>
        </p:spPr>
        <p:txBody>
          <a:bodyPr wrap="square" rtlCol="0" anchor="ctr"/>
          <a:lstStyle/>
          <a:p>
            <a:pPr marL="0" indent="0">
              <a:buNone/>
            </a:pPr>
            <a:r>
              <a:rPr lang="en-US" sz="1200" b="1" dirty="0">
                <a:solidFill>
                  <a:srgbClr val="2E74B5"/>
                </a:solidFill>
              </a:rPr>
              <a:t>Example</a:t>
            </a:r>
            <a:endParaRPr lang="en-US" sz="1200" dirty="0"/>
          </a:p>
        </p:txBody>
      </p:sp>
      <p:sp>
        <p:nvSpPr>
          <p:cNvPr id="21" name="Text 19"/>
          <p:cNvSpPr/>
          <p:nvPr/>
        </p:nvSpPr>
        <p:spPr>
          <a:xfrm>
            <a:off x="640080" y="3154680"/>
            <a:ext cx="7863840" cy="347472"/>
          </a:xfrm>
          <a:prstGeom prst="rect">
            <a:avLst/>
          </a:prstGeom>
          <a:noFill/>
          <a:ln/>
        </p:spPr>
        <p:txBody>
          <a:bodyPr wrap="square" rtlCol="0" anchor="ctr"/>
          <a:lstStyle/>
          <a:p>
            <a:pPr marL="0" indent="0">
              <a:buNone/>
            </a:pPr>
            <a:r>
              <a:rPr lang="en-US" sz="1150" b="1" dirty="0">
                <a:solidFill>
                  <a:srgbClr val="2E74B5"/>
                </a:solidFill>
              </a:rPr>
              <a:t>Input:  </a:t>
            </a:r>
            <a:r>
              <a:rPr lang="en-US" sz="1150" dirty="0">
                <a:solidFill>
                  <a:srgbClr val="1A1A2E"/>
                </a:solidFill>
              </a:rPr>
              <a:t>"Experimental investigations of aerodynamics of a wing in a slipstream2"</a:t>
            </a:r>
            <a:endParaRPr lang="en-US" sz="1150" dirty="0"/>
          </a:p>
        </p:txBody>
      </p:sp>
      <p:sp>
        <p:nvSpPr>
          <p:cNvPr id="22" name="Text 20"/>
          <p:cNvSpPr/>
          <p:nvPr/>
        </p:nvSpPr>
        <p:spPr>
          <a:xfrm>
            <a:off x="640080" y="3538728"/>
            <a:ext cx="7863840" cy="347472"/>
          </a:xfrm>
          <a:prstGeom prst="rect">
            <a:avLst/>
          </a:prstGeom>
          <a:noFill/>
          <a:ln/>
        </p:spPr>
        <p:txBody>
          <a:bodyPr wrap="square" rtlCol="0" anchor="ctr"/>
          <a:lstStyle/>
          <a:p>
            <a:pPr marL="0" indent="0">
              <a:buNone/>
            </a:pPr>
            <a:r>
              <a:rPr lang="en-US" sz="1150" b="1" dirty="0">
                <a:solidFill>
                  <a:srgbClr val="2E74B5"/>
                </a:solidFill>
              </a:rPr>
              <a:t>Step 1–2:  </a:t>
            </a:r>
            <a:r>
              <a:rPr lang="en-US" sz="1150" dirty="0">
                <a:solidFill>
                  <a:srgbClr val="1A1A2E"/>
                </a:solidFill>
              </a:rPr>
              <a:t>["experimental", "investigations", "aerodynamics", "wing", "slipstream"]</a:t>
            </a:r>
            <a:endParaRPr lang="en-US" sz="1150" dirty="0"/>
          </a:p>
        </p:txBody>
      </p:sp>
      <p:sp>
        <p:nvSpPr>
          <p:cNvPr id="23" name="Text 21"/>
          <p:cNvSpPr/>
          <p:nvPr/>
        </p:nvSpPr>
        <p:spPr>
          <a:xfrm>
            <a:off x="640080" y="3922776"/>
            <a:ext cx="7863840" cy="347472"/>
          </a:xfrm>
          <a:prstGeom prst="rect">
            <a:avLst/>
          </a:prstGeom>
          <a:noFill/>
          <a:ln/>
        </p:spPr>
        <p:txBody>
          <a:bodyPr wrap="square" rtlCol="0" anchor="ctr"/>
          <a:lstStyle/>
          <a:p>
            <a:pPr marL="0" indent="0">
              <a:buNone/>
            </a:pPr>
            <a:r>
              <a:rPr lang="en-US" sz="1150" b="1" dirty="0">
                <a:solidFill>
                  <a:srgbClr val="2E74B5"/>
                </a:solidFill>
              </a:rPr>
              <a:t>Step 3:  </a:t>
            </a:r>
            <a:r>
              <a:rPr lang="en-US" sz="1150" dirty="0">
                <a:solidFill>
                  <a:srgbClr val="1A1A2E"/>
                </a:solidFill>
              </a:rPr>
              <a:t>["experimental", "investigations", "aerodynamics", "wing", "slipstream"]</a:t>
            </a:r>
            <a:endParaRPr lang="en-US" sz="1150" dirty="0"/>
          </a:p>
        </p:txBody>
      </p:sp>
      <p:sp>
        <p:nvSpPr>
          <p:cNvPr id="24" name="Text 22"/>
          <p:cNvSpPr/>
          <p:nvPr/>
        </p:nvSpPr>
        <p:spPr>
          <a:xfrm>
            <a:off x="640080" y="4306824"/>
            <a:ext cx="7863840" cy="347472"/>
          </a:xfrm>
          <a:prstGeom prst="rect">
            <a:avLst/>
          </a:prstGeom>
          <a:noFill/>
          <a:ln/>
        </p:spPr>
        <p:txBody>
          <a:bodyPr wrap="square" rtlCol="0" anchor="ctr"/>
          <a:lstStyle/>
          <a:p>
            <a:pPr marL="0" indent="0">
              <a:buNone/>
            </a:pPr>
            <a:r>
              <a:rPr lang="en-US" sz="1150" b="1" dirty="0">
                <a:solidFill>
                  <a:srgbClr val="2E74B5"/>
                </a:solidFill>
              </a:rPr>
              <a:t>Step 4 (out):  </a:t>
            </a:r>
            <a:r>
              <a:rPr lang="en-US" sz="1150" dirty="0">
                <a:solidFill>
                  <a:srgbClr val="1A1A2E"/>
                </a:solidFill>
              </a:rPr>
              <a:t>["experiment", "investig", "aerodynam", "wing", "slipstream"]</a:t>
            </a:r>
            <a:endParaRPr lang="en-US" sz="11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p159:morph option="byObject"/>
      </p:transition>
    </mc:Choice>
    <mc:Fallback>
      <p:transition spd="slow" advClick="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D6E4F7"/>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rtlCol="0" anchor="ctr"/>
          <a:lstStyle/>
          <a:p>
            <a:pPr marL="0" indent="0">
              <a:buNone/>
            </a:pPr>
            <a:r>
              <a:rPr lang="en-US" sz="2600" b="1" dirty="0">
                <a:solidFill>
                  <a:srgbClr val="2E74B5"/>
                </a:solidFill>
              </a:rPr>
              <a:t>TF-IDF Weighting</a:t>
            </a:r>
            <a:endParaRPr lang="en-US" sz="2600" dirty="0"/>
          </a:p>
        </p:txBody>
      </p:sp>
      <p:sp>
        <p:nvSpPr>
          <p:cNvPr id="3" name="Shape 1"/>
          <p:cNvSpPr/>
          <p:nvPr/>
        </p:nvSpPr>
        <p:spPr>
          <a:xfrm>
            <a:off x="457200" y="777240"/>
            <a:ext cx="8229600" cy="27432"/>
          </a:xfrm>
          <a:prstGeom prst="rect">
            <a:avLst/>
          </a:prstGeom>
          <a:solidFill>
            <a:srgbClr val="2E74B5"/>
          </a:solidFill>
          <a:ln/>
        </p:spPr>
        <p:txBody>
          <a:bodyPr/>
          <a:lstStyle/>
          <a:p>
            <a:endParaRPr lang="en-US"/>
          </a:p>
        </p:txBody>
      </p:sp>
      <p:sp>
        <p:nvSpPr>
          <p:cNvPr id="4" name="Text 2"/>
          <p:cNvSpPr/>
          <p:nvPr/>
        </p:nvSpPr>
        <p:spPr>
          <a:xfrm>
            <a:off x="457200" y="960120"/>
            <a:ext cx="3931920" cy="365760"/>
          </a:xfrm>
          <a:prstGeom prst="rect">
            <a:avLst/>
          </a:prstGeom>
          <a:noFill/>
          <a:ln/>
        </p:spPr>
        <p:txBody>
          <a:bodyPr wrap="square" rtlCol="0" anchor="ctr"/>
          <a:lstStyle/>
          <a:p>
            <a:pPr marL="0" indent="0">
              <a:buNone/>
            </a:pPr>
            <a:r>
              <a:rPr lang="en-US" sz="1500" b="1" dirty="0">
                <a:solidFill>
                  <a:srgbClr val="2E74B5"/>
                </a:solidFill>
              </a:rPr>
              <a:t>Formulas</a:t>
            </a:r>
            <a:endParaRPr lang="en-US" sz="1500" dirty="0"/>
          </a:p>
        </p:txBody>
      </p:sp>
      <p:sp>
        <p:nvSpPr>
          <p:cNvPr id="5" name="Shape 3"/>
          <p:cNvSpPr/>
          <p:nvPr/>
        </p:nvSpPr>
        <p:spPr>
          <a:xfrm>
            <a:off x="457200" y="1417320"/>
            <a:ext cx="3931920" cy="713232"/>
          </a:xfrm>
          <a:prstGeom prst="rect">
            <a:avLst/>
          </a:prstGeom>
          <a:solidFill>
            <a:srgbClr val="FFFFFF"/>
          </a:solidFill>
          <a:ln/>
          <a:effectLst>
            <a:outerShdw blurRad="63500" dist="12700" dir="8100000" algn="bl" rotWithShape="0">
              <a:srgbClr val="000000">
                <a:alpha val="8000"/>
              </a:srgbClr>
            </a:outerShdw>
          </a:effectLst>
        </p:spPr>
        <p:txBody>
          <a:bodyPr/>
          <a:lstStyle/>
          <a:p>
            <a:endParaRPr lang="en-US"/>
          </a:p>
        </p:txBody>
      </p:sp>
      <p:sp>
        <p:nvSpPr>
          <p:cNvPr id="6" name="Shape 4"/>
          <p:cNvSpPr/>
          <p:nvPr/>
        </p:nvSpPr>
        <p:spPr>
          <a:xfrm>
            <a:off x="457200" y="1417320"/>
            <a:ext cx="64008" cy="713232"/>
          </a:xfrm>
          <a:prstGeom prst="rect">
            <a:avLst/>
          </a:prstGeom>
          <a:solidFill>
            <a:srgbClr val="2E74B5"/>
          </a:solidFill>
          <a:ln/>
        </p:spPr>
        <p:txBody>
          <a:bodyPr/>
          <a:lstStyle/>
          <a:p>
            <a:endParaRPr lang="en-US"/>
          </a:p>
        </p:txBody>
      </p:sp>
      <p:sp>
        <p:nvSpPr>
          <p:cNvPr id="7" name="Text 5"/>
          <p:cNvSpPr/>
          <p:nvPr/>
        </p:nvSpPr>
        <p:spPr>
          <a:xfrm>
            <a:off x="640080" y="1453896"/>
            <a:ext cx="1371600" cy="292608"/>
          </a:xfrm>
          <a:prstGeom prst="rect">
            <a:avLst/>
          </a:prstGeom>
          <a:noFill/>
          <a:ln/>
        </p:spPr>
        <p:txBody>
          <a:bodyPr wrap="square" rtlCol="0" anchor="ctr"/>
          <a:lstStyle/>
          <a:p>
            <a:pPr marL="0" indent="0">
              <a:buNone/>
            </a:pPr>
            <a:r>
              <a:rPr lang="en-US" sz="1300" b="1" dirty="0">
                <a:solidFill>
                  <a:srgbClr val="2E74B5"/>
                </a:solidFill>
              </a:rPr>
              <a:t>TF(t,d)</a:t>
            </a:r>
            <a:endParaRPr lang="en-US" sz="1300" dirty="0"/>
          </a:p>
        </p:txBody>
      </p:sp>
      <p:sp>
        <p:nvSpPr>
          <p:cNvPr id="8" name="Text 6"/>
          <p:cNvSpPr/>
          <p:nvPr/>
        </p:nvSpPr>
        <p:spPr>
          <a:xfrm>
            <a:off x="640080" y="1746504"/>
            <a:ext cx="3566160" cy="292608"/>
          </a:xfrm>
          <a:prstGeom prst="rect">
            <a:avLst/>
          </a:prstGeom>
          <a:noFill/>
          <a:ln/>
        </p:spPr>
        <p:txBody>
          <a:bodyPr wrap="square" rtlCol="0" anchor="ctr"/>
          <a:lstStyle/>
          <a:p>
            <a:pPr marL="0" indent="0">
              <a:buNone/>
            </a:pPr>
            <a:r>
              <a:rPr lang="en-US" sz="1200" dirty="0">
                <a:solidFill>
                  <a:srgbClr val="1A1A2E"/>
                </a:solidFill>
              </a:rPr>
              <a:t>count(t in d) / total terms in d</a:t>
            </a:r>
            <a:endParaRPr lang="en-US" sz="1200" dirty="0"/>
          </a:p>
        </p:txBody>
      </p:sp>
      <p:sp>
        <p:nvSpPr>
          <p:cNvPr id="9" name="Shape 7"/>
          <p:cNvSpPr/>
          <p:nvPr/>
        </p:nvSpPr>
        <p:spPr>
          <a:xfrm>
            <a:off x="457200" y="2286000"/>
            <a:ext cx="3931920" cy="713232"/>
          </a:xfrm>
          <a:prstGeom prst="rect">
            <a:avLst/>
          </a:prstGeom>
          <a:solidFill>
            <a:srgbClr val="FFFFFF"/>
          </a:solidFill>
          <a:ln/>
          <a:effectLst>
            <a:outerShdw blurRad="63500" dist="12700" dir="8100000" algn="bl" rotWithShape="0">
              <a:srgbClr val="000000">
                <a:alpha val="8000"/>
              </a:srgbClr>
            </a:outerShdw>
          </a:effectLst>
        </p:spPr>
        <p:txBody>
          <a:bodyPr/>
          <a:lstStyle/>
          <a:p>
            <a:endParaRPr lang="en-US"/>
          </a:p>
        </p:txBody>
      </p:sp>
      <p:sp>
        <p:nvSpPr>
          <p:cNvPr id="10" name="Shape 8"/>
          <p:cNvSpPr/>
          <p:nvPr/>
        </p:nvSpPr>
        <p:spPr>
          <a:xfrm>
            <a:off x="457200" y="2286000"/>
            <a:ext cx="64008" cy="713232"/>
          </a:xfrm>
          <a:prstGeom prst="rect">
            <a:avLst/>
          </a:prstGeom>
          <a:solidFill>
            <a:srgbClr val="2E74B5"/>
          </a:solidFill>
          <a:ln/>
        </p:spPr>
        <p:txBody>
          <a:bodyPr/>
          <a:lstStyle/>
          <a:p>
            <a:endParaRPr lang="en-US"/>
          </a:p>
        </p:txBody>
      </p:sp>
      <p:sp>
        <p:nvSpPr>
          <p:cNvPr id="11" name="Text 9"/>
          <p:cNvSpPr/>
          <p:nvPr/>
        </p:nvSpPr>
        <p:spPr>
          <a:xfrm>
            <a:off x="640080" y="2322576"/>
            <a:ext cx="1371600" cy="292608"/>
          </a:xfrm>
          <a:prstGeom prst="rect">
            <a:avLst/>
          </a:prstGeom>
          <a:noFill/>
          <a:ln/>
        </p:spPr>
        <p:txBody>
          <a:bodyPr wrap="square" rtlCol="0" anchor="ctr"/>
          <a:lstStyle/>
          <a:p>
            <a:pPr marL="0" indent="0">
              <a:buNone/>
            </a:pPr>
            <a:r>
              <a:rPr lang="en-US" sz="1300" b="1" dirty="0">
                <a:solidFill>
                  <a:srgbClr val="2E74B5"/>
                </a:solidFill>
              </a:rPr>
              <a:t>IDF(t)</a:t>
            </a:r>
            <a:endParaRPr lang="en-US" sz="1300" dirty="0"/>
          </a:p>
        </p:txBody>
      </p:sp>
      <p:sp>
        <p:nvSpPr>
          <p:cNvPr id="12" name="Text 10"/>
          <p:cNvSpPr/>
          <p:nvPr/>
        </p:nvSpPr>
        <p:spPr>
          <a:xfrm>
            <a:off x="640080" y="2615184"/>
            <a:ext cx="3566160" cy="292608"/>
          </a:xfrm>
          <a:prstGeom prst="rect">
            <a:avLst/>
          </a:prstGeom>
          <a:noFill/>
          <a:ln/>
        </p:spPr>
        <p:txBody>
          <a:bodyPr wrap="square" rtlCol="0" anchor="ctr"/>
          <a:lstStyle/>
          <a:p>
            <a:pPr marL="0" indent="0">
              <a:buNone/>
            </a:pPr>
            <a:r>
              <a:rPr lang="en-US" sz="1200" dirty="0">
                <a:solidFill>
                  <a:srgbClr val="1A1A2E"/>
                </a:solidFill>
              </a:rPr>
              <a:t>log₁₀( N / (df(t) + 1) ) + 1</a:t>
            </a:r>
            <a:endParaRPr lang="en-US" sz="1200" dirty="0"/>
          </a:p>
        </p:txBody>
      </p:sp>
      <p:sp>
        <p:nvSpPr>
          <p:cNvPr id="13" name="Shape 11"/>
          <p:cNvSpPr/>
          <p:nvPr/>
        </p:nvSpPr>
        <p:spPr>
          <a:xfrm>
            <a:off x="457200" y="3154680"/>
            <a:ext cx="3931920" cy="713232"/>
          </a:xfrm>
          <a:prstGeom prst="rect">
            <a:avLst/>
          </a:prstGeom>
          <a:solidFill>
            <a:srgbClr val="FFFFFF"/>
          </a:solidFill>
          <a:ln/>
          <a:effectLst>
            <a:outerShdw blurRad="63500" dist="12700" dir="8100000" algn="bl" rotWithShape="0">
              <a:srgbClr val="000000">
                <a:alpha val="8000"/>
              </a:srgbClr>
            </a:outerShdw>
          </a:effectLst>
        </p:spPr>
        <p:txBody>
          <a:bodyPr/>
          <a:lstStyle/>
          <a:p>
            <a:endParaRPr lang="en-US"/>
          </a:p>
        </p:txBody>
      </p:sp>
      <p:sp>
        <p:nvSpPr>
          <p:cNvPr id="14" name="Shape 12"/>
          <p:cNvSpPr/>
          <p:nvPr/>
        </p:nvSpPr>
        <p:spPr>
          <a:xfrm>
            <a:off x="457200" y="3154680"/>
            <a:ext cx="64008" cy="713232"/>
          </a:xfrm>
          <a:prstGeom prst="rect">
            <a:avLst/>
          </a:prstGeom>
          <a:solidFill>
            <a:srgbClr val="2E74B5"/>
          </a:solidFill>
          <a:ln/>
        </p:spPr>
        <p:txBody>
          <a:bodyPr/>
          <a:lstStyle/>
          <a:p>
            <a:endParaRPr lang="en-US"/>
          </a:p>
        </p:txBody>
      </p:sp>
      <p:sp>
        <p:nvSpPr>
          <p:cNvPr id="15" name="Text 13"/>
          <p:cNvSpPr/>
          <p:nvPr/>
        </p:nvSpPr>
        <p:spPr>
          <a:xfrm>
            <a:off x="640080" y="3191256"/>
            <a:ext cx="1371600" cy="292608"/>
          </a:xfrm>
          <a:prstGeom prst="rect">
            <a:avLst/>
          </a:prstGeom>
          <a:noFill/>
          <a:ln/>
        </p:spPr>
        <p:txBody>
          <a:bodyPr wrap="square" rtlCol="0" anchor="ctr"/>
          <a:lstStyle/>
          <a:p>
            <a:pPr marL="0" indent="0">
              <a:buNone/>
            </a:pPr>
            <a:r>
              <a:rPr lang="en-US" sz="1300" b="1" dirty="0">
                <a:solidFill>
                  <a:srgbClr val="2E74B5"/>
                </a:solidFill>
              </a:rPr>
              <a:t>TF-IDF</a:t>
            </a:r>
            <a:endParaRPr lang="en-US" sz="1300" dirty="0"/>
          </a:p>
        </p:txBody>
      </p:sp>
      <p:sp>
        <p:nvSpPr>
          <p:cNvPr id="16" name="Text 14"/>
          <p:cNvSpPr/>
          <p:nvPr/>
        </p:nvSpPr>
        <p:spPr>
          <a:xfrm>
            <a:off x="640080" y="3483864"/>
            <a:ext cx="3566160" cy="292608"/>
          </a:xfrm>
          <a:prstGeom prst="rect">
            <a:avLst/>
          </a:prstGeom>
          <a:noFill/>
          <a:ln/>
        </p:spPr>
        <p:txBody>
          <a:bodyPr wrap="square" rtlCol="0" anchor="ctr"/>
          <a:lstStyle/>
          <a:p>
            <a:pPr marL="0" indent="0">
              <a:buNone/>
            </a:pPr>
            <a:r>
              <a:rPr lang="en-US" sz="1200" dirty="0">
                <a:solidFill>
                  <a:srgbClr val="1A1A2E"/>
                </a:solidFill>
              </a:rPr>
              <a:t>TF(t,d) × IDF(t)</a:t>
            </a:r>
            <a:endParaRPr lang="en-US" sz="1200" dirty="0"/>
          </a:p>
        </p:txBody>
      </p:sp>
      <p:sp>
        <p:nvSpPr>
          <p:cNvPr id="17" name="Text 15"/>
          <p:cNvSpPr/>
          <p:nvPr/>
        </p:nvSpPr>
        <p:spPr>
          <a:xfrm>
            <a:off x="4754880" y="960120"/>
            <a:ext cx="3931920" cy="365760"/>
          </a:xfrm>
          <a:prstGeom prst="rect">
            <a:avLst/>
          </a:prstGeom>
          <a:noFill/>
          <a:ln/>
        </p:spPr>
        <p:txBody>
          <a:bodyPr wrap="square" rtlCol="0" anchor="ctr"/>
          <a:lstStyle/>
          <a:p>
            <a:pPr marL="0" indent="0">
              <a:buNone/>
            </a:pPr>
            <a:r>
              <a:rPr lang="en-US" sz="1500" b="1" dirty="0">
                <a:solidFill>
                  <a:srgbClr val="2E74B5"/>
                </a:solidFill>
              </a:rPr>
              <a:t>Sample Values — Document 1</a:t>
            </a:r>
            <a:endParaRPr lang="en-US" sz="15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754880" y="1417320"/>
          <a:ext cx="3931920" cy="3017520"/>
        </p:xfrm>
        <a:graphic>
          <a:graphicData uri="http://schemas.openxmlformats.org/drawingml/2006/table">
            <a:tbl>
              <a:tblPr/>
              <a:tblGrid>
                <a:gridCol w="164592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tblGrid>
              <a:tr h="502920">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Term</a:t>
                      </a:r>
                      <a:endParaRPr lang="en-US" sz="1300" dirty="0">
                        <a:latin typeface="Calibri" charset="0"/>
                        <a:ea typeface="Calibri" charset="0"/>
                        <a:cs typeface="Calibri"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2E74B5"/>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TF</a:t>
                      </a:r>
                      <a:endParaRPr lang="en-US" sz="1300" dirty="0">
                        <a:latin typeface="Calibri" charset="0"/>
                        <a:ea typeface="Calibri" charset="0"/>
                        <a:cs typeface="Calibri"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2E74B5"/>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IDF</a:t>
                      </a:r>
                      <a:endParaRPr lang="en-US" sz="1300" dirty="0">
                        <a:latin typeface="Calibri" charset="0"/>
                        <a:ea typeface="Calibri" charset="0"/>
                        <a:cs typeface="Calibri"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2E74B5"/>
                    </a:solidFill>
                  </a:tcPr>
                </a:tc>
                <a:extLst>
                  <a:ext uri="{0D108BD9-81ED-4DB2-BD59-A6C34878D82A}">
                    <a16:rowId xmlns:a16="http://schemas.microsoft.com/office/drawing/2014/main" val="10000"/>
                  </a:ext>
                </a:extLst>
              </a:tr>
              <a:tr h="502920">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slipstream</a:t>
                      </a:r>
                      <a:endParaRPr lang="en-US" sz="1300" dirty="0">
                        <a:latin typeface="Calibri" charset="0"/>
                        <a:ea typeface="Calibri" charset="0"/>
                        <a:cs typeface="Calibri"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0.0649</a:t>
                      </a:r>
                      <a:endParaRPr lang="en-US" sz="1300" dirty="0">
                        <a:latin typeface="Calibri" charset="0"/>
                        <a:ea typeface="Calibri" charset="0"/>
                        <a:cs typeface="Calibri"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2.0322</a:t>
                      </a:r>
                      <a:endParaRPr lang="en-US" sz="1300" dirty="0">
                        <a:latin typeface="Calibri" charset="0"/>
                        <a:ea typeface="Calibri" charset="0"/>
                        <a:cs typeface="Calibri"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wing</a:t>
                      </a:r>
                      <a:endParaRPr lang="en-US" sz="1300" dirty="0">
                        <a:latin typeface="Calibri" charset="0"/>
                        <a:ea typeface="Calibri" charset="0"/>
                        <a:cs typeface="Calibri"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0.0390</a:t>
                      </a:r>
                      <a:endParaRPr lang="en-US" sz="1300" dirty="0">
                        <a:latin typeface="Calibri" charset="0"/>
                        <a:ea typeface="Calibri" charset="0"/>
                        <a:cs typeface="Calibri"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0.8117</a:t>
                      </a:r>
                      <a:endParaRPr lang="en-US" sz="1300" dirty="0">
                        <a:latin typeface="Calibri" charset="0"/>
                        <a:ea typeface="Calibri" charset="0"/>
                        <a:cs typeface="Calibri"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experiment</a:t>
                      </a:r>
                      <a:endParaRPr lang="en-US" sz="1300" dirty="0">
                        <a:latin typeface="Calibri" charset="0"/>
                        <a:ea typeface="Calibri" charset="0"/>
                        <a:cs typeface="Calibri"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0.0260</a:t>
                      </a:r>
                      <a:endParaRPr lang="en-US" sz="1300" dirty="0">
                        <a:latin typeface="Calibri" charset="0"/>
                        <a:ea typeface="Calibri" charset="0"/>
                        <a:cs typeface="Calibri"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0.6198</a:t>
                      </a:r>
                      <a:endParaRPr lang="en-US" sz="1300" dirty="0">
                        <a:latin typeface="Calibri" charset="0"/>
                        <a:ea typeface="Calibri" charset="0"/>
                        <a:cs typeface="Calibri"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aerodynam</a:t>
                      </a:r>
                      <a:endParaRPr lang="en-US" sz="1300" dirty="0">
                        <a:latin typeface="Calibri" charset="0"/>
                        <a:ea typeface="Calibri" charset="0"/>
                        <a:cs typeface="Calibri"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0.0130</a:t>
                      </a:r>
                      <a:endParaRPr lang="en-US" sz="1300" dirty="0">
                        <a:latin typeface="Calibri" charset="0"/>
                        <a:ea typeface="Calibri" charset="0"/>
                        <a:cs typeface="Calibri"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0.9056</a:t>
                      </a:r>
                      <a:endParaRPr lang="en-US" sz="1300" dirty="0">
                        <a:latin typeface="Calibri" charset="0"/>
                        <a:ea typeface="Calibri" charset="0"/>
                        <a:cs typeface="Calibri"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2920">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propel</a:t>
                      </a:r>
                      <a:endParaRPr lang="en-US" sz="1300" dirty="0">
                        <a:latin typeface="Calibri" charset="0"/>
                        <a:ea typeface="Calibri" charset="0"/>
                        <a:cs typeface="Calibri"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0.0130</a:t>
                      </a:r>
                      <a:endParaRPr lang="en-US" sz="1300" dirty="0">
                        <a:latin typeface="Calibri" charset="0"/>
                        <a:ea typeface="Calibri" charset="0"/>
                        <a:cs typeface="Calibri"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1.6990</a:t>
                      </a:r>
                      <a:endParaRPr lang="en-US" sz="1300" dirty="0">
                        <a:latin typeface="Calibri" charset="0"/>
                        <a:ea typeface="Calibri" charset="0"/>
                        <a:cs typeface="Calibri"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Inverted Index">
    <p:bg>
      <p:bgPr>
        <a:solidFill>
          <a:srgbClr val="D6E4F7"/>
        </a:solidFill>
        <a:effectLst/>
      </p:bgPr>
    </p:bg>
    <p:spTree>
      <p:nvGrpSpPr>
        <p:cNvPr id="1" name=""/>
        <p:cNvGrpSpPr/>
        <p:nvPr/>
      </p:nvGrpSpPr>
      <p:grpSpPr>
        <a:xfrm>
          <a:off x="0" y="0"/>
          <a:ext cx="0" cy="0"/>
          <a:chOff x="0" y="0"/>
          <a:chExt cx="0" cy="0"/>
        </a:xfrm>
      </p:grpSpPr>
      <p:sp>
        <p:nvSpPr>
          <p:cNvPr id="2" name="Title"/>
          <p:cNvSpPr/>
          <p:nvPr/>
        </p:nvSpPr>
        <p:spPr>
          <a:xfrm>
            <a:off x="457200" y="201168"/>
            <a:ext cx="8229600" cy="548640"/>
          </a:xfrm>
          <a:prstGeom prst="rect">
            <a:avLst/>
          </a:prstGeom>
          <a:noFill/>
          <a:ln/>
        </p:spPr>
        <p:txBody>
          <a:bodyPr wrap="square" rtlCol="0" anchor="ctr"/>
          <a:lstStyle/>
          <a:p>
            <a:pPr marL="0" indent="0">
              <a:buNone/>
            </a:pPr>
            <a:r>
              <a:rPr lang="en-US" sz="2600" b="1" dirty="0">
                <a:solidFill>
                  <a:srgbClr val="2E74B5"/>
                </a:solidFill>
              </a:rPr>
              <a:t>Inverted Index</a:t>
            </a:r>
          </a:p>
        </p:txBody>
      </p:sp>
      <p:sp>
        <p:nvSpPr>
          <p:cNvPr id="3" name="Divider"/>
          <p:cNvSpPr/>
          <p:nvPr/>
        </p:nvSpPr>
        <p:spPr>
          <a:xfrm>
            <a:off x="457200" y="777240"/>
            <a:ext cx="8229600" cy="27432"/>
          </a:xfrm>
          <a:prstGeom prst="rect">
            <a:avLst/>
          </a:prstGeom>
          <a:solidFill>
            <a:srgbClr val="2E74B5"/>
          </a:solidFill>
          <a:ln/>
        </p:spPr>
        <p:txBody>
          <a:bodyPr/>
          <a:lstStyle/>
          <a:p>
            <a:endParaRPr lang="en-US"/>
          </a:p>
        </p:txBody>
      </p:sp>
      <p:sp>
        <p:nvSpPr>
          <p:cNvPr id="4" name="DefBox"/>
          <p:cNvSpPr/>
          <p:nvPr/>
        </p:nvSpPr>
        <p:spPr>
          <a:xfrm>
            <a:off x="457200" y="860040"/>
            <a:ext cx="3800000" cy="4600000"/>
          </a:xfrm>
          <a:prstGeom prst="rect">
            <a:avLst/>
          </a:prstGeom>
          <a:solidFill>
            <a:srgbClr val="FFFFFF"/>
          </a:solidFill>
          <a:ln w="9525">
            <a:solidFill>
              <a:srgbClr val="2E74B5"/>
            </a:solidFill>
          </a:ln>
          <a:effectLst>
            <a:outerShdw blurRad="76200" dist="25400" dir="8100000" algn="bl" rotWithShape="0">
              <a:srgbClr val="000000">
                <a:alpha val="12000"/>
              </a:srgbClr>
            </a:outerShdw>
          </a:effectLst>
        </p:spPr>
        <p:txBody>
          <a:bodyPr wrap="square" lIns="180000" tIns="180000" rIns="180000" rtlCol="0" anchor="t"/>
          <a:lstStyle/>
          <a:p>
            <a:pPr marL="0" indent="0">
              <a:buNone/>
            </a:pPr>
            <a:r>
              <a:rPr lang="en-US" sz="1400" b="1" dirty="0">
                <a:solidFill>
                  <a:srgbClr val="2E74B5"/>
                </a:solidFill>
              </a:rPr>
              <a:t>What is it?</a:t>
            </a:r>
          </a:p>
          <a:p>
            <a:endParaRPr lang="en-US" sz="1100" dirty="0"/>
          </a:p>
          <a:p>
            <a:pPr marL="0" indent="0">
              <a:buNone/>
            </a:pPr>
            <a:r>
              <a:rPr lang="en-US" sz="1200" dirty="0">
                <a:solidFill>
                  <a:srgbClr val="333333"/>
                </a:solidFill>
              </a:rPr>
              <a:t>Maps each unique term to the list of documents containing it.</a:t>
            </a:r>
          </a:p>
          <a:p>
            <a:endParaRPr lang="en-US" sz="1100" dirty="0"/>
          </a:p>
          <a:p>
            <a:pPr marL="0" indent="0">
              <a:buNone/>
            </a:pPr>
            <a:r>
              <a:rPr lang="en-US" sz="1400" b="1" dirty="0">
                <a:solidFill>
                  <a:srgbClr val="2E74B5"/>
                </a:solidFill>
              </a:rPr>
              <a:t>Why use it?</a:t>
            </a:r>
          </a:p>
          <a:p>
            <a:endParaRPr lang="en-US" sz="1100" dirty="0"/>
          </a:p>
          <a:p>
            <a:pPr marL="0" indent="0">
              <a:buNone/>
            </a:pPr>
            <a:r>
              <a:rPr lang="en-US" sz="1200" dirty="0">
                <a:solidFill>
                  <a:srgbClr val="333333"/>
                </a:solidFill>
              </a:rPr>
              <a:t>Enables fast retrieval without scanning all 1400 documents for every query.</a:t>
            </a:r>
          </a:p>
          <a:p>
            <a:endParaRPr lang="en-US" sz="1100" dirty="0"/>
          </a:p>
          <a:p>
            <a:pPr marL="0" indent="0">
              <a:buNone/>
            </a:pPr>
            <a:r>
              <a:rPr lang="en-US" sz="1400" b="1" dirty="0">
                <a:solidFill>
                  <a:srgbClr val="2E74B5"/>
                </a:solidFill>
              </a:rPr>
              <a:t>Statistics</a:t>
            </a:r>
          </a:p>
          <a:p>
            <a:endParaRPr lang="en-US" sz="1100" dirty="0"/>
          </a:p>
          <a:p>
            <a:pPr marL="0" indent="0">
              <a:buNone/>
            </a:pPr>
            <a:r>
              <a:rPr lang="en-US" sz="1200" dirty="0">
                <a:solidFill>
                  <a:srgbClr val="333333"/>
                </a:solidFill>
              </a:rPr>
              <a:t>• 5,656 unique terms</a:t>
            </a:r>
          </a:p>
          <a:p>
            <a:pPr marL="0" indent="0">
              <a:buNone/>
            </a:pPr>
            <a:r>
              <a:rPr lang="en-US" sz="1200" dirty="0">
                <a:solidFill>
                  <a:srgbClr val="333333"/>
                </a:solidFill>
              </a:rPr>
              <a:t>• ‘wing’ → 108 docs</a:t>
            </a:r>
          </a:p>
          <a:p>
            <a:pPr marL="0" indent="0">
              <a:buNone/>
            </a:pPr>
            <a:r>
              <a:rPr lang="en-US" sz="1200" dirty="0">
                <a:solidFill>
                  <a:srgbClr val="333333"/>
                </a:solidFill>
              </a:rPr>
              <a:t>• ‘aerodynam’ → 67 docs</a:t>
            </a:r>
          </a:p>
          <a:p>
            <a:pPr marL="0" indent="0">
              <a:buNone/>
            </a:pPr>
            <a:r>
              <a:rPr lang="en-US" sz="1200" dirty="0">
                <a:solidFill>
                  <a:srgbClr val="333333"/>
                </a:solidFill>
              </a:rPr>
              <a:t>• Saved to inverted_index.pkl</a:t>
            </a:r>
          </a:p>
        </p:txBody>
      </p:sp>
      <p:sp>
        <p:nvSpPr>
          <p:cNvPr id="5" name="StructBox"/>
          <p:cNvSpPr/>
          <p:nvPr/>
        </p:nvSpPr>
        <p:spPr>
          <a:xfrm>
            <a:off x="4457200" y="860040"/>
            <a:ext cx="4229600" cy="4600000"/>
          </a:xfrm>
          <a:prstGeom prst="rect">
            <a:avLst/>
          </a:prstGeom>
          <a:solidFill>
            <a:schemeClr val="accent1">
              <a:lumMod val="60000"/>
              <a:lumOff val="40000"/>
            </a:schemeClr>
          </a:solidFill>
          <a:ln/>
          <a:effectLst>
            <a:outerShdw blurRad="76200" dist="25400" dir="8100000" algn="bl" rotWithShape="0">
              <a:srgbClr val="000000">
                <a:alpha val="20000"/>
              </a:srgbClr>
            </a:outerShdw>
          </a:effectLst>
        </p:spPr>
        <p:txBody>
          <a:bodyPr wrap="square" lIns="200000" tIns="200000" rIns="200000" rtlCol="0" anchor="t"/>
          <a:lstStyle/>
          <a:p>
            <a:pPr marL="0" indent="0">
              <a:buNone/>
            </a:pPr>
            <a:r>
              <a:rPr lang="en-US" sz="1300" b="1">
                <a:solidFill>
                  <a:schemeClr val="accent1">
                    <a:lumMod val="50000"/>
                  </a:schemeClr>
                </a:solidFill>
                <a:latin typeface="Courier New"/>
              </a:rPr>
              <a:t>Structure</a:t>
            </a:r>
          </a:p>
          <a:p>
            <a:endParaRPr lang="en-US" sz="900" dirty="0"/>
          </a:p>
          <a:p>
            <a:pPr marL="0" indent="0">
              <a:buNone/>
            </a:pPr>
            <a:r>
              <a:rPr lang="en-US" sz="1200">
                <a:solidFill>
                  <a:schemeClr val="accent1">
                    <a:lumMod val="50000"/>
                  </a:schemeClr>
                </a:solidFill>
                <a:latin typeface="Courier New"/>
              </a:rPr>
              <a:t>{</a:t>
            </a:r>
          </a:p>
          <a:p>
            <a:pPr marL="0" indent="0">
              <a:buNone/>
            </a:pPr>
            <a:r>
              <a:rPr lang="en-US" sz="1200" dirty="0">
                <a:solidFill>
                  <a:srgbClr val="90BFFF"/>
                </a:solidFill>
                <a:latin typeface="Courier New"/>
              </a:rPr>
              <a:t>  </a:t>
            </a:r>
            <a:r>
              <a:rPr lang="en-US" sz="1200">
                <a:solidFill>
                  <a:schemeClr val="accent1">
                    <a:lumMod val="50000"/>
                  </a:schemeClr>
                </a:solidFill>
                <a:latin typeface="Courier New"/>
              </a:rPr>
              <a:t>“wing”: </a:t>
            </a:r>
            <a:r>
              <a:rPr lang="en-US" sz="1200">
                <a:solidFill>
                  <a:srgbClr val="C00000"/>
                </a:solidFill>
                <a:latin typeface="Courier New"/>
              </a:rPr>
              <a:t>[1,13,14,30,...]</a:t>
            </a:r>
          </a:p>
          <a:p>
            <a:pPr marL="0" indent="0">
              <a:buNone/>
            </a:pPr>
            <a:r>
              <a:rPr lang="en-US" sz="1200" dirty="0">
                <a:solidFill>
                  <a:srgbClr val="90BFFF"/>
                </a:solidFill>
                <a:latin typeface="Courier New"/>
              </a:rPr>
              <a:t>  </a:t>
            </a:r>
            <a:r>
              <a:rPr lang="en-US" sz="1200">
                <a:solidFill>
                  <a:schemeClr val="accent1">
                    <a:lumMod val="50000"/>
                  </a:schemeClr>
                </a:solidFill>
                <a:latin typeface="Courier New"/>
              </a:rPr>
              <a:t>“aerodynam”:</a:t>
            </a:r>
            <a:r>
              <a:rPr lang="en-US" sz="1200" dirty="0">
                <a:solidFill>
                  <a:srgbClr val="E8E8E8"/>
                </a:solidFill>
                <a:latin typeface="Courier New"/>
              </a:rPr>
              <a:t> </a:t>
            </a:r>
            <a:r>
              <a:rPr lang="en-US" sz="1200">
                <a:solidFill>
                  <a:srgbClr val="C00000"/>
                </a:solidFill>
                <a:latin typeface="Courier New"/>
              </a:rPr>
              <a:t>[1,5,11,...]</a:t>
            </a:r>
          </a:p>
          <a:p>
            <a:pPr marL="0" indent="0">
              <a:buNone/>
            </a:pPr>
            <a:r>
              <a:rPr lang="en-US" sz="1200" dirty="0">
                <a:solidFill>
                  <a:srgbClr val="90BFFF"/>
                </a:solidFill>
                <a:latin typeface="Courier New"/>
              </a:rPr>
              <a:t>  </a:t>
            </a:r>
            <a:r>
              <a:rPr lang="en-US" sz="1200">
                <a:solidFill>
                  <a:schemeClr val="accent1">
                    <a:lumMod val="50000"/>
                  </a:schemeClr>
                </a:solidFill>
                <a:latin typeface="Courier New"/>
              </a:rPr>
              <a:t>“experiment”: </a:t>
            </a:r>
            <a:r>
              <a:rPr lang="en-US" sz="1200">
                <a:solidFill>
                  <a:srgbClr val="C00000"/>
                </a:solidFill>
                <a:latin typeface="Courier New"/>
              </a:rPr>
              <a:t>[1,3,7,...]</a:t>
            </a:r>
          </a:p>
          <a:p>
            <a:pPr marL="0" indent="0">
              <a:buNone/>
            </a:pPr>
            <a:r>
              <a:rPr lang="en-US" sz="1200">
                <a:solidFill>
                  <a:schemeClr val="accent1">
                    <a:lumMod val="50000"/>
                  </a:schemeClr>
                </a:solidFill>
                <a:latin typeface="Courier New"/>
              </a:rPr>
              <a:t>  ...</a:t>
            </a:r>
          </a:p>
          <a:p>
            <a:pPr marL="0" indent="0">
              <a:buNone/>
            </a:pPr>
            <a:r>
              <a:rPr lang="en-US" sz="1200">
                <a:solidFill>
                  <a:schemeClr val="accent1">
                    <a:lumMod val="50000"/>
                  </a:schemeClr>
                </a:solidFill>
                <a:latin typeface="Courier New"/>
              </a:rPr>
              <a:t>}</a:t>
            </a:r>
          </a:p>
          <a:p>
            <a:endParaRPr lang="en-US" sz="900" dirty="0"/>
          </a:p>
          <a:p>
            <a:pPr marL="0" indent="0">
              <a:buNone/>
            </a:pPr>
            <a:r>
              <a:rPr lang="en-US" sz="1100" b="1">
                <a:solidFill>
                  <a:schemeClr val="accent1">
                    <a:lumMod val="50000"/>
                  </a:schemeClr>
                </a:solidFill>
                <a:latin typeface="Courier New"/>
              </a:rPr>
              <a:t>Construction:</a:t>
            </a:r>
          </a:p>
          <a:p>
            <a:pPr marL="0" indent="0">
              <a:buNone/>
            </a:pPr>
            <a:r>
              <a:rPr lang="en-US" sz="1100">
                <a:solidFill>
                  <a:srgbClr val="C00000"/>
                </a:solidFill>
                <a:latin typeface="Courier New"/>
              </a:rPr>
              <a:t>for doc in documents:</a:t>
            </a:r>
          </a:p>
          <a:p>
            <a:pPr marL="0" indent="0">
              <a:buNone/>
            </a:pPr>
            <a:r>
              <a:rPr lang="en-US" sz="1100">
                <a:solidFill>
                  <a:srgbClr val="C00000"/>
                </a:solidFill>
                <a:latin typeface="Courier New"/>
              </a:rPr>
              <a:t>  for token in doc:</a:t>
            </a:r>
          </a:p>
          <a:p>
            <a:pPr marL="0" indent="0">
              <a:buNone/>
            </a:pPr>
            <a:r>
              <a:rPr lang="en-US" sz="1100">
                <a:solidFill>
                  <a:srgbClr val="C00000"/>
                </a:solidFill>
                <a:latin typeface="Courier New"/>
              </a:rPr>
              <a:t>    index[token].add(doc_id)</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p159:morph option="byObject"/>
      </p:transition>
    </mc:Choice>
    <mc:Fallback>
      <p:transition spd="slow" advClick="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D6E4F7"/>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rtlCol="0" anchor="ctr"/>
          <a:lstStyle/>
          <a:p>
            <a:pPr marL="0" indent="0">
              <a:buNone/>
            </a:pPr>
            <a:r>
              <a:rPr lang="en-US" sz="2600" b="1" dirty="0">
                <a:solidFill>
                  <a:srgbClr val="2E74B5"/>
                </a:solidFill>
              </a:rPr>
              <a:t>Top-K Retrieval Results</a:t>
            </a:r>
            <a:endParaRPr lang="en-US" sz="2600" dirty="0"/>
          </a:p>
        </p:txBody>
      </p:sp>
      <p:sp>
        <p:nvSpPr>
          <p:cNvPr id="3" name="Shape 1"/>
          <p:cNvSpPr/>
          <p:nvPr/>
        </p:nvSpPr>
        <p:spPr>
          <a:xfrm>
            <a:off x="457200" y="777240"/>
            <a:ext cx="8229600" cy="27432"/>
          </a:xfrm>
          <a:prstGeom prst="rect">
            <a:avLst/>
          </a:prstGeom>
          <a:solidFill>
            <a:srgbClr val="2E74B5"/>
          </a:solidFill>
          <a:ln/>
        </p:spPr>
        <p:txBody>
          <a:bodyPr/>
          <a:lstStyle/>
          <a:p>
            <a:endParaRPr lang="en-US"/>
          </a:p>
        </p:txBody>
      </p:sp>
      <p:sp>
        <p:nvSpPr>
          <p:cNvPr id="4" name="Shape 2"/>
          <p:cNvSpPr/>
          <p:nvPr/>
        </p:nvSpPr>
        <p:spPr>
          <a:xfrm>
            <a:off x="457200" y="1005840"/>
            <a:ext cx="4023360" cy="1737360"/>
          </a:xfrm>
          <a:prstGeom prst="rect">
            <a:avLst/>
          </a:prstGeom>
          <a:solidFill>
            <a:srgbClr val="FFFFFF"/>
          </a:solidFill>
          <a:ln/>
          <a:effectLst>
            <a:outerShdw blurRad="63500" dist="12700" dir="8100000" algn="bl" rotWithShape="0">
              <a:srgbClr val="000000">
                <a:alpha val="8000"/>
              </a:srgbClr>
            </a:outerShdw>
          </a:effectLst>
        </p:spPr>
        <p:txBody>
          <a:bodyPr/>
          <a:lstStyle/>
          <a:p>
            <a:endParaRPr lang="en-US"/>
          </a:p>
        </p:txBody>
      </p:sp>
      <p:sp>
        <p:nvSpPr>
          <p:cNvPr id="5" name="Text 3"/>
          <p:cNvSpPr/>
          <p:nvPr/>
        </p:nvSpPr>
        <p:spPr>
          <a:xfrm>
            <a:off x="594360" y="1097280"/>
            <a:ext cx="3749040" cy="320040"/>
          </a:xfrm>
          <a:prstGeom prst="rect">
            <a:avLst/>
          </a:prstGeom>
          <a:noFill/>
          <a:ln/>
        </p:spPr>
        <p:txBody>
          <a:bodyPr wrap="square" rtlCol="0" anchor="ctr"/>
          <a:lstStyle/>
          <a:p>
            <a:pPr marL="0" indent="0">
              <a:buNone/>
            </a:pPr>
            <a:r>
              <a:rPr lang="en-US" sz="1150" b="1" dirty="0">
                <a:solidFill>
                  <a:srgbClr val="2E74B5"/>
                </a:solidFill>
              </a:rPr>
              <a:t>Query: boundary layer heat transfer</a:t>
            </a:r>
            <a:endParaRPr lang="en-US" sz="1150" dirty="0"/>
          </a:p>
        </p:txBody>
      </p:sp>
      <p:sp>
        <p:nvSpPr>
          <p:cNvPr id="6" name="Text 4"/>
          <p:cNvSpPr/>
          <p:nvPr/>
        </p:nvSpPr>
        <p:spPr>
          <a:xfrm>
            <a:off x="594360" y="1463040"/>
            <a:ext cx="3749040" cy="256032"/>
          </a:xfrm>
          <a:prstGeom prst="rect">
            <a:avLst/>
          </a:prstGeom>
          <a:noFill/>
          <a:ln/>
        </p:spPr>
        <p:txBody>
          <a:bodyPr wrap="square" rtlCol="0" anchor="ctr"/>
          <a:lstStyle/>
          <a:p>
            <a:pPr marL="0" indent="0">
              <a:buNone/>
            </a:pPr>
            <a:r>
              <a:rPr lang="en-US" sz="1100" dirty="0">
                <a:solidFill>
                  <a:srgbClr val="5A6A8A"/>
                </a:solidFill>
              </a:rPr>
              <a:t>Rank 1 — Score: 0.5413</a:t>
            </a:r>
            <a:endParaRPr lang="en-US" sz="1100" dirty="0"/>
          </a:p>
        </p:txBody>
      </p:sp>
      <p:sp>
        <p:nvSpPr>
          <p:cNvPr id="7" name="Text 5"/>
          <p:cNvSpPr/>
          <p:nvPr/>
        </p:nvSpPr>
        <p:spPr>
          <a:xfrm>
            <a:off x="594360" y="1737360"/>
            <a:ext cx="3749040" cy="822960"/>
          </a:xfrm>
          <a:prstGeom prst="rect">
            <a:avLst/>
          </a:prstGeom>
          <a:noFill/>
          <a:ln/>
        </p:spPr>
        <p:txBody>
          <a:bodyPr wrap="square" rtlCol="0" anchor="ctr"/>
          <a:lstStyle/>
          <a:p>
            <a:pPr marL="0" indent="0">
              <a:buNone/>
            </a:pPr>
            <a:r>
              <a:rPr lang="en-US" sz="1150" dirty="0">
                <a:solidFill>
                  <a:srgbClr val="1A1A2E"/>
                </a:solidFill>
              </a:rPr>
              <a:t>Doc 145 — Skin friction in the laminar boundary layer</a:t>
            </a:r>
            <a:endParaRPr lang="en-US" sz="1150" dirty="0"/>
          </a:p>
        </p:txBody>
      </p:sp>
      <p:sp>
        <p:nvSpPr>
          <p:cNvPr id="8" name="Shape 6"/>
          <p:cNvSpPr/>
          <p:nvPr/>
        </p:nvSpPr>
        <p:spPr>
          <a:xfrm>
            <a:off x="4800600" y="1005840"/>
            <a:ext cx="4023360" cy="1737360"/>
          </a:xfrm>
          <a:prstGeom prst="rect">
            <a:avLst/>
          </a:prstGeom>
          <a:solidFill>
            <a:srgbClr val="FFFFFF"/>
          </a:solidFill>
          <a:ln/>
          <a:effectLst>
            <a:outerShdw blurRad="63500" dist="12700" dir="8100000" algn="bl" rotWithShape="0">
              <a:srgbClr val="000000">
                <a:alpha val="8000"/>
              </a:srgbClr>
            </a:outerShdw>
          </a:effectLst>
        </p:spPr>
        <p:txBody>
          <a:bodyPr/>
          <a:lstStyle/>
          <a:p>
            <a:endParaRPr lang="en-US"/>
          </a:p>
        </p:txBody>
      </p:sp>
      <p:sp>
        <p:nvSpPr>
          <p:cNvPr id="9" name="Text 7"/>
          <p:cNvSpPr/>
          <p:nvPr/>
        </p:nvSpPr>
        <p:spPr>
          <a:xfrm>
            <a:off x="4937760" y="1097280"/>
            <a:ext cx="3749040" cy="320040"/>
          </a:xfrm>
          <a:prstGeom prst="rect">
            <a:avLst/>
          </a:prstGeom>
          <a:noFill/>
          <a:ln/>
        </p:spPr>
        <p:txBody>
          <a:bodyPr wrap="square" rtlCol="0" anchor="ctr"/>
          <a:lstStyle/>
          <a:p>
            <a:pPr marL="0" indent="0">
              <a:buNone/>
            </a:pPr>
            <a:r>
              <a:rPr lang="en-US" sz="1150" b="1" dirty="0">
                <a:solidFill>
                  <a:srgbClr val="2E74B5"/>
                </a:solidFill>
              </a:rPr>
              <a:t>Query: wing aerodynamics</a:t>
            </a:r>
            <a:endParaRPr lang="en-US" sz="1150" dirty="0"/>
          </a:p>
        </p:txBody>
      </p:sp>
      <p:sp>
        <p:nvSpPr>
          <p:cNvPr id="10" name="Text 8"/>
          <p:cNvSpPr/>
          <p:nvPr/>
        </p:nvSpPr>
        <p:spPr>
          <a:xfrm>
            <a:off x="4937760" y="1463040"/>
            <a:ext cx="3749040" cy="256032"/>
          </a:xfrm>
          <a:prstGeom prst="rect">
            <a:avLst/>
          </a:prstGeom>
          <a:noFill/>
          <a:ln/>
        </p:spPr>
        <p:txBody>
          <a:bodyPr wrap="square" rtlCol="0" anchor="ctr"/>
          <a:lstStyle/>
          <a:p>
            <a:pPr marL="0" indent="0">
              <a:buNone/>
            </a:pPr>
            <a:r>
              <a:rPr lang="en-US" sz="1100" dirty="0">
                <a:solidFill>
                  <a:srgbClr val="5A6A8A"/>
                </a:solidFill>
              </a:rPr>
              <a:t>Rank 1 — Score: 0.4102</a:t>
            </a:r>
            <a:endParaRPr lang="en-US" sz="1100" dirty="0"/>
          </a:p>
        </p:txBody>
      </p:sp>
      <p:sp>
        <p:nvSpPr>
          <p:cNvPr id="11" name="Text 9"/>
          <p:cNvSpPr/>
          <p:nvPr/>
        </p:nvSpPr>
        <p:spPr>
          <a:xfrm>
            <a:off x="4937760" y="1737360"/>
            <a:ext cx="3749040" cy="822960"/>
          </a:xfrm>
          <a:prstGeom prst="rect">
            <a:avLst/>
          </a:prstGeom>
          <a:noFill/>
          <a:ln/>
        </p:spPr>
        <p:txBody>
          <a:bodyPr wrap="square" rtlCol="0" anchor="ctr"/>
          <a:lstStyle/>
          <a:p>
            <a:pPr marL="0" indent="0">
              <a:buNone/>
            </a:pPr>
            <a:r>
              <a:rPr lang="en-US" sz="1150" dirty="0">
                <a:solidFill>
                  <a:srgbClr val="1A1A2E"/>
                </a:solidFill>
              </a:rPr>
              <a:t>Doc 749 — Aerodynamic effects of aspect ratio on flutter</a:t>
            </a:r>
            <a:endParaRPr lang="en-US" sz="1150" dirty="0"/>
          </a:p>
        </p:txBody>
      </p:sp>
      <p:sp>
        <p:nvSpPr>
          <p:cNvPr id="12" name="Shape 10"/>
          <p:cNvSpPr/>
          <p:nvPr/>
        </p:nvSpPr>
        <p:spPr>
          <a:xfrm>
            <a:off x="457200" y="2971800"/>
            <a:ext cx="4023360" cy="1737360"/>
          </a:xfrm>
          <a:prstGeom prst="rect">
            <a:avLst/>
          </a:prstGeom>
          <a:solidFill>
            <a:srgbClr val="FFFFFF"/>
          </a:solidFill>
          <a:ln/>
          <a:effectLst>
            <a:outerShdw blurRad="63500" dist="12700" dir="8100000" algn="bl" rotWithShape="0">
              <a:srgbClr val="000000">
                <a:alpha val="8000"/>
              </a:srgbClr>
            </a:outerShdw>
          </a:effectLst>
        </p:spPr>
        <p:txBody>
          <a:bodyPr/>
          <a:lstStyle/>
          <a:p>
            <a:endParaRPr lang="en-US"/>
          </a:p>
        </p:txBody>
      </p:sp>
      <p:sp>
        <p:nvSpPr>
          <p:cNvPr id="13" name="Text 11"/>
          <p:cNvSpPr/>
          <p:nvPr/>
        </p:nvSpPr>
        <p:spPr>
          <a:xfrm>
            <a:off x="594360" y="3063240"/>
            <a:ext cx="3749040" cy="320040"/>
          </a:xfrm>
          <a:prstGeom prst="rect">
            <a:avLst/>
          </a:prstGeom>
          <a:noFill/>
          <a:ln/>
        </p:spPr>
        <p:txBody>
          <a:bodyPr wrap="square" rtlCol="0" anchor="ctr"/>
          <a:lstStyle/>
          <a:p>
            <a:pPr marL="0" indent="0">
              <a:buNone/>
            </a:pPr>
            <a:r>
              <a:rPr lang="en-US" sz="1150" b="1" dirty="0">
                <a:solidFill>
                  <a:srgbClr val="2E74B5"/>
                </a:solidFill>
              </a:rPr>
              <a:t>Query: compressible flow pressure</a:t>
            </a:r>
            <a:endParaRPr lang="en-US" sz="1150" dirty="0"/>
          </a:p>
        </p:txBody>
      </p:sp>
      <p:sp>
        <p:nvSpPr>
          <p:cNvPr id="14" name="Text 12"/>
          <p:cNvSpPr/>
          <p:nvPr/>
        </p:nvSpPr>
        <p:spPr>
          <a:xfrm>
            <a:off x="594360" y="3429000"/>
            <a:ext cx="3749040" cy="256032"/>
          </a:xfrm>
          <a:prstGeom prst="rect">
            <a:avLst/>
          </a:prstGeom>
          <a:noFill/>
          <a:ln/>
        </p:spPr>
        <p:txBody>
          <a:bodyPr wrap="square" rtlCol="0" anchor="ctr"/>
          <a:lstStyle/>
          <a:p>
            <a:pPr marL="0" indent="0">
              <a:buNone/>
            </a:pPr>
            <a:r>
              <a:rPr lang="en-US" sz="1100" dirty="0">
                <a:solidFill>
                  <a:srgbClr val="5A6A8A"/>
                </a:solidFill>
              </a:rPr>
              <a:t>Rank 1 — Score: 0.4364</a:t>
            </a:r>
            <a:endParaRPr lang="en-US" sz="1100" dirty="0"/>
          </a:p>
        </p:txBody>
      </p:sp>
      <p:sp>
        <p:nvSpPr>
          <p:cNvPr id="15" name="Text 13"/>
          <p:cNvSpPr/>
          <p:nvPr/>
        </p:nvSpPr>
        <p:spPr>
          <a:xfrm>
            <a:off x="594360" y="3703320"/>
            <a:ext cx="3749040" cy="822960"/>
          </a:xfrm>
          <a:prstGeom prst="rect">
            <a:avLst/>
          </a:prstGeom>
          <a:noFill/>
          <a:ln/>
        </p:spPr>
        <p:txBody>
          <a:bodyPr wrap="square" rtlCol="0" anchor="ctr"/>
          <a:lstStyle/>
          <a:p>
            <a:pPr marL="0" indent="0">
              <a:buNone/>
            </a:pPr>
            <a:r>
              <a:rPr lang="en-US" sz="1150" dirty="0">
                <a:solidFill>
                  <a:srgbClr val="1A1A2E"/>
                </a:solidFill>
              </a:rPr>
              <a:t>Doc 775 — Studies on 2D flows of compressible fluid</a:t>
            </a:r>
            <a:endParaRPr lang="en-US" sz="1150" dirty="0"/>
          </a:p>
        </p:txBody>
      </p:sp>
      <p:sp>
        <p:nvSpPr>
          <p:cNvPr id="16" name="Shape 14"/>
          <p:cNvSpPr/>
          <p:nvPr/>
        </p:nvSpPr>
        <p:spPr>
          <a:xfrm>
            <a:off x="4800600" y="2971800"/>
            <a:ext cx="4023360" cy="1737360"/>
          </a:xfrm>
          <a:prstGeom prst="rect">
            <a:avLst/>
          </a:prstGeom>
          <a:solidFill>
            <a:srgbClr val="FFFFFF"/>
          </a:solidFill>
          <a:ln/>
          <a:effectLst>
            <a:outerShdw blurRad="63500" dist="12700" dir="8100000" algn="bl" rotWithShape="0">
              <a:srgbClr val="000000">
                <a:alpha val="8000"/>
              </a:srgbClr>
            </a:outerShdw>
          </a:effectLst>
        </p:spPr>
        <p:txBody>
          <a:bodyPr/>
          <a:lstStyle/>
          <a:p>
            <a:endParaRPr lang="en-US"/>
          </a:p>
        </p:txBody>
      </p:sp>
      <p:sp>
        <p:nvSpPr>
          <p:cNvPr id="17" name="Text 15"/>
          <p:cNvSpPr/>
          <p:nvPr/>
        </p:nvSpPr>
        <p:spPr>
          <a:xfrm>
            <a:off x="4937760" y="3063240"/>
            <a:ext cx="3749040" cy="320040"/>
          </a:xfrm>
          <a:prstGeom prst="rect">
            <a:avLst/>
          </a:prstGeom>
          <a:noFill/>
          <a:ln/>
        </p:spPr>
        <p:txBody>
          <a:bodyPr wrap="square" rtlCol="0" anchor="ctr"/>
          <a:lstStyle/>
          <a:p>
            <a:pPr marL="0" indent="0">
              <a:buNone/>
            </a:pPr>
            <a:r>
              <a:rPr lang="en-US" sz="1150" b="1" dirty="0">
                <a:solidFill>
                  <a:srgbClr val="2E74B5"/>
                </a:solidFill>
              </a:rPr>
              <a:t>Query: aircraft engine efficiency</a:t>
            </a:r>
            <a:endParaRPr lang="en-US" sz="1150" dirty="0"/>
          </a:p>
        </p:txBody>
      </p:sp>
      <p:sp>
        <p:nvSpPr>
          <p:cNvPr id="18" name="Text 16"/>
          <p:cNvSpPr/>
          <p:nvPr/>
        </p:nvSpPr>
        <p:spPr>
          <a:xfrm>
            <a:off x="4937760" y="3429000"/>
            <a:ext cx="3749040" cy="256032"/>
          </a:xfrm>
          <a:prstGeom prst="rect">
            <a:avLst/>
          </a:prstGeom>
          <a:noFill/>
          <a:ln/>
        </p:spPr>
        <p:txBody>
          <a:bodyPr wrap="square" rtlCol="0" anchor="ctr"/>
          <a:lstStyle/>
          <a:p>
            <a:pPr marL="0" indent="0">
              <a:buNone/>
            </a:pPr>
            <a:r>
              <a:rPr lang="en-US" sz="1100" dirty="0">
                <a:solidFill>
                  <a:srgbClr val="5A6A8A"/>
                </a:solidFill>
              </a:rPr>
              <a:t>Rank 1 — Score: 0.3514</a:t>
            </a:r>
            <a:endParaRPr lang="en-US" sz="1100" dirty="0"/>
          </a:p>
        </p:txBody>
      </p:sp>
      <p:sp>
        <p:nvSpPr>
          <p:cNvPr id="19" name="Text 17"/>
          <p:cNvSpPr/>
          <p:nvPr/>
        </p:nvSpPr>
        <p:spPr>
          <a:xfrm>
            <a:off x="4937760" y="3703320"/>
            <a:ext cx="3749040" cy="822960"/>
          </a:xfrm>
          <a:prstGeom prst="rect">
            <a:avLst/>
          </a:prstGeom>
          <a:noFill/>
          <a:ln/>
        </p:spPr>
        <p:txBody>
          <a:bodyPr wrap="square" rtlCol="0" anchor="ctr"/>
          <a:lstStyle/>
          <a:p>
            <a:pPr marL="0" indent="0">
              <a:buNone/>
            </a:pPr>
            <a:r>
              <a:rPr lang="en-US" sz="1150" dirty="0">
                <a:solidFill>
                  <a:srgbClr val="1A1A2E"/>
                </a:solidFill>
              </a:rPr>
              <a:t>Doc 100 — Vibration isolation of aircraft power plants</a:t>
            </a:r>
            <a:endParaRPr lang="en-US" sz="11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Shape 0"/>
          <p:cNvSpPr/>
          <p:nvPr/>
        </p:nvSpPr>
        <p:spPr>
          <a:xfrm>
            <a:off x="502920" y="1463040"/>
            <a:ext cx="640080" cy="640080"/>
          </a:xfrm>
          <a:prstGeom prst="ellipse">
            <a:avLst/>
          </a:prstGeom>
          <a:solidFill>
            <a:srgbClr val="2E74B5"/>
          </a:solidFill>
          <a:ln/>
        </p:spPr>
        <p:txBody>
          <a:bodyPr/>
          <a:lstStyle/>
          <a:p>
            <a:endParaRPr lang="en-US"/>
          </a:p>
        </p:txBody>
      </p:sp>
      <p:sp>
        <p:nvSpPr>
          <p:cNvPr id="3" name="Text 1"/>
          <p:cNvSpPr/>
          <p:nvPr/>
        </p:nvSpPr>
        <p:spPr>
          <a:xfrm>
            <a:off x="502920" y="1463040"/>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rPr>
              <a:t>2</a:t>
            </a:r>
            <a:endParaRPr lang="en-US" sz="2000" dirty="0"/>
          </a:p>
        </p:txBody>
      </p:sp>
      <p:sp>
        <p:nvSpPr>
          <p:cNvPr id="4" name="Text 2"/>
          <p:cNvSpPr/>
          <p:nvPr/>
        </p:nvSpPr>
        <p:spPr>
          <a:xfrm>
            <a:off x="1371600" y="1417320"/>
            <a:ext cx="7132320" cy="685800"/>
          </a:xfrm>
          <a:prstGeom prst="rect">
            <a:avLst/>
          </a:prstGeom>
          <a:noFill/>
          <a:ln/>
        </p:spPr>
        <p:txBody>
          <a:bodyPr wrap="square" rtlCol="0" anchor="ctr"/>
          <a:lstStyle/>
          <a:p>
            <a:pPr marL="0" indent="0">
              <a:buNone/>
            </a:pPr>
            <a:r>
              <a:rPr lang="en-US" sz="3200" b="1" dirty="0">
                <a:solidFill>
                  <a:srgbClr val="FFFFFF"/>
                </a:solidFill>
              </a:rPr>
              <a:t>Evaluation</a:t>
            </a:r>
            <a:endParaRPr lang="en-US" sz="3200" dirty="0"/>
          </a:p>
        </p:txBody>
      </p:sp>
      <p:sp>
        <p:nvSpPr>
          <p:cNvPr id="5" name="Text 3"/>
          <p:cNvSpPr/>
          <p:nvPr/>
        </p:nvSpPr>
        <p:spPr>
          <a:xfrm>
            <a:off x="1371600" y="2194560"/>
            <a:ext cx="7132320" cy="457200"/>
          </a:xfrm>
          <a:prstGeom prst="rect">
            <a:avLst/>
          </a:prstGeom>
          <a:noFill/>
          <a:ln/>
        </p:spPr>
        <p:txBody>
          <a:bodyPr wrap="square" rtlCol="0" anchor="ctr"/>
          <a:lstStyle/>
          <a:p>
            <a:pPr marL="0" indent="0">
              <a:buNone/>
            </a:pPr>
            <a:r>
              <a:rPr lang="en-US" sz="1600" i="1" dirty="0">
                <a:solidFill>
                  <a:schemeClr val="tx2">
                    <a:lumMod val="75000"/>
                  </a:schemeClr>
                </a:solidFill>
              </a:rPr>
              <a:t>MAP · NDCG · Results &amp; Discussion</a:t>
            </a:r>
            <a:endParaRPr lang="en-US" sz="1600" dirty="0">
              <a:solidFill>
                <a:schemeClr val="tx2">
                  <a:lumMod val="75000"/>
                </a:schemeClr>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D6E4F7"/>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rtlCol="0" anchor="ctr"/>
          <a:lstStyle/>
          <a:p>
            <a:pPr marL="0" indent="0">
              <a:buNone/>
            </a:pPr>
            <a:r>
              <a:rPr lang="en-US" sz="2600" b="1" dirty="0">
                <a:solidFill>
                  <a:srgbClr val="2E74B5"/>
                </a:solidFill>
              </a:rPr>
              <a:t>Evaluation Results — MAP &amp; NDCG</a:t>
            </a:r>
            <a:endParaRPr lang="en-US" sz="2600" dirty="0"/>
          </a:p>
        </p:txBody>
      </p:sp>
      <p:sp>
        <p:nvSpPr>
          <p:cNvPr id="3" name="Shape 1"/>
          <p:cNvSpPr/>
          <p:nvPr/>
        </p:nvSpPr>
        <p:spPr>
          <a:xfrm>
            <a:off x="457200" y="777240"/>
            <a:ext cx="8229600" cy="27432"/>
          </a:xfrm>
          <a:prstGeom prst="rect">
            <a:avLst/>
          </a:prstGeom>
          <a:solidFill>
            <a:srgbClr val="2E74B5"/>
          </a:solidFill>
          <a:ln/>
        </p:spPr>
        <p:txBody>
          <a:bodyPr/>
          <a:lstStyle/>
          <a:p>
            <a:endParaRPr lang="en-US"/>
          </a:p>
        </p:txBody>
      </p:sp>
      <p:sp>
        <p:nvSpPr>
          <p:cNvPr id="4" name="Text 2"/>
          <p:cNvSpPr/>
          <p:nvPr/>
        </p:nvSpPr>
        <p:spPr>
          <a:xfrm>
            <a:off x="457200" y="960120"/>
            <a:ext cx="3474720" cy="347472"/>
          </a:xfrm>
          <a:prstGeom prst="rect">
            <a:avLst/>
          </a:prstGeom>
          <a:noFill/>
          <a:ln/>
        </p:spPr>
        <p:txBody>
          <a:bodyPr wrap="square" rtlCol="0" anchor="ctr"/>
          <a:lstStyle/>
          <a:p>
            <a:pPr marL="0" indent="0">
              <a:buNone/>
            </a:pPr>
            <a:r>
              <a:rPr lang="en-US" sz="1300" b="1" dirty="0">
                <a:solidFill>
                  <a:srgbClr val="2E74B5"/>
                </a:solidFill>
              </a:rPr>
              <a:t>MAP (Binary Relevance)</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3474720" cy="1536192"/>
        </p:xfrm>
        <a:graphic>
          <a:graphicData uri="http://schemas.openxmlformats.org/drawingml/2006/table">
            <a:tbl>
              <a:tblPr/>
              <a:tblGrid>
                <a:gridCol w="173736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tblGrid>
              <a:tr h="384048">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k</a:t>
                      </a:r>
                      <a:endParaRPr lang="en-US" sz="1300" dirty="0">
                        <a:latin typeface="Calibri" charset="0"/>
                        <a:ea typeface="Calibri" charset="0"/>
                        <a:cs typeface="Calibri"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2E74B5"/>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MAP Score</a:t>
                      </a:r>
                      <a:endParaRPr lang="en-US" sz="1300" dirty="0">
                        <a:latin typeface="Calibri" charset="0"/>
                        <a:ea typeface="Calibri" charset="0"/>
                        <a:cs typeface="Calibri"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2E74B5"/>
                    </a:solidFill>
                  </a:tcPr>
                </a:tc>
                <a:extLst>
                  <a:ext uri="{0D108BD9-81ED-4DB2-BD59-A6C34878D82A}">
                    <a16:rowId xmlns:a16="http://schemas.microsoft.com/office/drawing/2014/main" val="10000"/>
                  </a:ext>
                </a:extLst>
              </a:tr>
              <a:tr h="384048">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0.0024</a:t>
                      </a:r>
                      <a:endParaRPr lang="en-US" sz="1300" dirty="0">
                        <a:latin typeface="Calibri" charset="0"/>
                        <a:ea typeface="Calibri" charset="0"/>
                        <a:cs typeface="Calibri"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50</a:t>
                      </a:r>
                      <a:endParaRPr lang="en-US" sz="1300" dirty="0">
                        <a:latin typeface="Calibri" charset="0"/>
                        <a:ea typeface="Calibri" charset="0"/>
                        <a:cs typeface="Calibri"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0.0065</a:t>
                      </a:r>
                      <a:endParaRPr lang="en-US" sz="1300" dirty="0">
                        <a:latin typeface="Calibri" charset="0"/>
                        <a:ea typeface="Calibri" charset="0"/>
                        <a:cs typeface="Calibri"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0.0083</a:t>
                      </a:r>
                      <a:endParaRPr lang="en-US" sz="1300" dirty="0">
                        <a:latin typeface="Calibri" charset="0"/>
                        <a:ea typeface="Calibri" charset="0"/>
                        <a:cs typeface="Calibri"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Text 3"/>
          <p:cNvSpPr/>
          <p:nvPr/>
        </p:nvSpPr>
        <p:spPr>
          <a:xfrm>
            <a:off x="457200" y="3017520"/>
            <a:ext cx="3474720" cy="320040"/>
          </a:xfrm>
          <a:prstGeom prst="rect">
            <a:avLst/>
          </a:prstGeom>
          <a:noFill/>
          <a:ln/>
        </p:spPr>
        <p:txBody>
          <a:bodyPr wrap="square" rtlCol="0" anchor="ctr"/>
          <a:lstStyle/>
          <a:p>
            <a:pPr marL="0" indent="0">
              <a:buNone/>
            </a:pPr>
            <a:r>
              <a:rPr lang="en-US" sz="1300" b="1" dirty="0">
                <a:solidFill>
                  <a:srgbClr val="2E74B5"/>
                </a:solidFill>
              </a:rPr>
              <a:t>NDCG (Graded Relevance)</a:t>
            </a:r>
            <a:endParaRPr lang="en-US" sz="13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457200" y="3383280"/>
          <a:ext cx="3474720" cy="1645920"/>
        </p:xfrm>
        <a:graphic>
          <a:graphicData uri="http://schemas.openxmlformats.org/drawingml/2006/table">
            <a:tbl>
              <a:tblPr/>
              <a:tblGrid>
                <a:gridCol w="173736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tblGrid>
              <a:tr h="237744">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k</a:t>
                      </a:r>
                      <a:endParaRPr lang="en-US" sz="1200" dirty="0">
                        <a:latin typeface="Calibri" charset="0"/>
                        <a:ea typeface="Calibri" charset="0"/>
                        <a:cs typeface="Calibri"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2E74B5"/>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NDCG Score</a:t>
                      </a:r>
                      <a:endParaRPr lang="en-US" sz="1200" dirty="0">
                        <a:latin typeface="Calibri" charset="0"/>
                        <a:ea typeface="Calibri" charset="0"/>
                        <a:cs typeface="Calibri"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2E74B5"/>
                    </a:solidFill>
                  </a:tcPr>
                </a:tc>
                <a:extLst>
                  <a:ext uri="{0D108BD9-81ED-4DB2-BD59-A6C34878D82A}">
                    <a16:rowId xmlns:a16="http://schemas.microsoft.com/office/drawing/2014/main" val="10000"/>
                  </a:ext>
                </a:extLst>
              </a:tr>
              <a:tr h="237744">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0.0090</a:t>
                      </a:r>
                      <a:endParaRPr lang="en-US" sz="1200" dirty="0">
                        <a:latin typeface="Calibri" charset="0"/>
                        <a:ea typeface="Calibri" charset="0"/>
                        <a:cs typeface="Calibri"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37744">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50</a:t>
                      </a:r>
                      <a:endParaRPr lang="en-US" sz="1200" dirty="0">
                        <a:latin typeface="Calibri" charset="0"/>
                        <a:ea typeface="Calibri" charset="0"/>
                        <a:cs typeface="Calibri"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0.0228</a:t>
                      </a:r>
                      <a:endParaRPr lang="en-US" sz="1200" dirty="0">
                        <a:latin typeface="Calibri" charset="0"/>
                        <a:ea typeface="Calibri" charset="0"/>
                        <a:cs typeface="Calibri"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37744">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0.0343</a:t>
                      </a:r>
                      <a:endParaRPr lang="en-US" sz="1200" dirty="0">
                        <a:latin typeface="Calibri" charset="0"/>
                        <a:ea typeface="Calibri" charset="0"/>
                        <a:cs typeface="Calibri"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37744">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500</a:t>
                      </a:r>
                      <a:endParaRPr lang="en-US" sz="1200" dirty="0">
                        <a:latin typeface="Calibri" charset="0"/>
                        <a:ea typeface="Calibri" charset="0"/>
                        <a:cs typeface="Calibri"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0.0916</a:t>
                      </a:r>
                      <a:endParaRPr lang="en-US" sz="1200" dirty="0">
                        <a:latin typeface="Calibri" charset="0"/>
                        <a:ea typeface="Calibri" charset="0"/>
                        <a:cs typeface="Calibri"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37744">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0.1564</a:t>
                      </a:r>
                      <a:endParaRPr lang="en-US" sz="1200" dirty="0">
                        <a:latin typeface="Calibri" charset="0"/>
                        <a:ea typeface="Calibri" charset="0"/>
                        <a:cs typeface="Calibri"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pic>
        <p:nvPicPr>
          <p:cNvPr id="8" name="Image 0" descr="preencoded.png"/>
          <p:cNvPicPr>
            <a:picLocks noChangeAspect="1"/>
          </p:cNvPicPr>
          <p:nvPr/>
        </p:nvPicPr>
        <p:blipFill>
          <a:blip r:embed="rId3"/>
          <a:stretch>
            <a:fillRect/>
          </a:stretch>
        </p:blipFill>
        <p:spPr>
          <a:xfrm>
            <a:off x="4160520" y="914400"/>
            <a:ext cx="4572000" cy="3200400"/>
          </a:xfrm>
          <a:prstGeom prst="rect">
            <a:avLst/>
          </a:prstGeom>
        </p:spPr>
      </p:pic>
      <p:sp>
        <p:nvSpPr>
          <p:cNvPr id="9" name="Text 4"/>
          <p:cNvSpPr/>
          <p:nvPr/>
        </p:nvSpPr>
        <p:spPr>
          <a:xfrm>
            <a:off x="4160520" y="4160520"/>
            <a:ext cx="4572000" cy="411480"/>
          </a:xfrm>
          <a:prstGeom prst="rect">
            <a:avLst/>
          </a:prstGeom>
          <a:noFill/>
          <a:ln/>
        </p:spPr>
        <p:txBody>
          <a:bodyPr wrap="square" rtlCol="0" anchor="ctr"/>
          <a:lstStyle/>
          <a:p>
            <a:pPr marL="0" indent="0" algn="ctr">
              <a:buNone/>
            </a:pPr>
            <a:r>
              <a:rPr lang="en-US" sz="1000" i="1" dirty="0">
                <a:solidFill>
                  <a:srgbClr val="5A6A8A"/>
                </a:solidFill>
              </a:rPr>
              <a:t>Figure 1: MAP and NDCG vs Top-K (TF-IDF + Cosine Similarity on Cranfield Dataset)</a:t>
            </a:r>
            <a:endParaRPr lang="en-US" sz="1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Shape 0"/>
          <p:cNvSpPr/>
          <p:nvPr/>
        </p:nvSpPr>
        <p:spPr>
          <a:xfrm>
            <a:off x="502920" y="1463040"/>
            <a:ext cx="640080" cy="640080"/>
          </a:xfrm>
          <a:prstGeom prst="ellipse">
            <a:avLst/>
          </a:prstGeom>
          <a:solidFill>
            <a:srgbClr val="2E74B5"/>
          </a:solidFill>
          <a:ln/>
        </p:spPr>
        <p:txBody>
          <a:bodyPr/>
          <a:lstStyle/>
          <a:p>
            <a:endParaRPr lang="en-US"/>
          </a:p>
        </p:txBody>
      </p:sp>
      <p:sp>
        <p:nvSpPr>
          <p:cNvPr id="3" name="Text 1"/>
          <p:cNvSpPr/>
          <p:nvPr/>
        </p:nvSpPr>
        <p:spPr>
          <a:xfrm>
            <a:off x="502920" y="1463040"/>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rPr>
              <a:t>3</a:t>
            </a:r>
            <a:endParaRPr lang="en-US" sz="2000" dirty="0"/>
          </a:p>
        </p:txBody>
      </p:sp>
      <p:sp>
        <p:nvSpPr>
          <p:cNvPr id="4" name="Text 2"/>
          <p:cNvSpPr/>
          <p:nvPr/>
        </p:nvSpPr>
        <p:spPr>
          <a:xfrm>
            <a:off x="1371600" y="1417320"/>
            <a:ext cx="7132320" cy="685800"/>
          </a:xfrm>
          <a:prstGeom prst="rect">
            <a:avLst/>
          </a:prstGeom>
          <a:noFill/>
          <a:ln/>
        </p:spPr>
        <p:txBody>
          <a:bodyPr wrap="square" rtlCol="0" anchor="ctr"/>
          <a:lstStyle/>
          <a:p>
            <a:pPr marL="0" indent="0">
              <a:buNone/>
            </a:pPr>
            <a:r>
              <a:rPr lang="en-US" sz="3200" b="1" dirty="0">
                <a:solidFill>
                  <a:srgbClr val="FFFFFF"/>
                </a:solidFill>
              </a:rPr>
              <a:t>RAG Extension</a:t>
            </a:r>
            <a:endParaRPr lang="en-US" sz="3200" dirty="0"/>
          </a:p>
        </p:txBody>
      </p:sp>
      <p:sp>
        <p:nvSpPr>
          <p:cNvPr id="5" name="Text 3"/>
          <p:cNvSpPr/>
          <p:nvPr/>
        </p:nvSpPr>
        <p:spPr>
          <a:xfrm>
            <a:off x="1371600" y="2194560"/>
            <a:ext cx="7132320" cy="457200"/>
          </a:xfrm>
          <a:prstGeom prst="rect">
            <a:avLst/>
          </a:prstGeom>
          <a:noFill/>
          <a:ln/>
        </p:spPr>
        <p:txBody>
          <a:bodyPr wrap="square" rtlCol="0" anchor="ctr"/>
          <a:lstStyle/>
          <a:p>
            <a:pPr marL="0" indent="0">
              <a:buNone/>
            </a:pPr>
            <a:r>
              <a:rPr lang="en-US" sz="1600" i="1" dirty="0">
                <a:solidFill>
                  <a:schemeClr val="tx2">
                    <a:lumMod val="75000"/>
                  </a:schemeClr>
                </a:solidFill>
              </a:rPr>
              <a:t>Retrieval-Augmented Generation Pipeline</a:t>
            </a:r>
            <a:endParaRPr lang="en-US" sz="1600" dirty="0">
              <a:solidFill>
                <a:schemeClr val="tx2">
                  <a:lumMod val="75000"/>
                </a:schemeClr>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D6E4F7"/>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rtlCol="0" anchor="ctr"/>
          <a:lstStyle/>
          <a:p>
            <a:pPr marL="0" indent="0">
              <a:buNone/>
            </a:pPr>
            <a:r>
              <a:rPr lang="en-US" sz="2600" b="1" dirty="0">
                <a:solidFill>
                  <a:srgbClr val="2E74B5"/>
                </a:solidFill>
              </a:rPr>
              <a:t>RAG Pipeline</a:t>
            </a:r>
            <a:endParaRPr lang="en-US" sz="2600" dirty="0"/>
          </a:p>
        </p:txBody>
      </p:sp>
      <p:sp>
        <p:nvSpPr>
          <p:cNvPr id="3" name="Shape 1"/>
          <p:cNvSpPr/>
          <p:nvPr/>
        </p:nvSpPr>
        <p:spPr>
          <a:xfrm>
            <a:off x="457200" y="777240"/>
            <a:ext cx="8229600" cy="27432"/>
          </a:xfrm>
          <a:prstGeom prst="rect">
            <a:avLst/>
          </a:prstGeom>
          <a:solidFill>
            <a:srgbClr val="2E74B5"/>
          </a:solidFill>
          <a:ln/>
        </p:spPr>
        <p:txBody>
          <a:bodyPr/>
          <a:lstStyle/>
          <a:p>
            <a:endParaRPr lang="en-US"/>
          </a:p>
        </p:txBody>
      </p:sp>
      <p:sp>
        <p:nvSpPr>
          <p:cNvPr id="4" name="Shape 2"/>
          <p:cNvSpPr/>
          <p:nvPr/>
        </p:nvSpPr>
        <p:spPr>
          <a:xfrm>
            <a:off x="274320" y="1005840"/>
            <a:ext cx="1920240" cy="1188720"/>
          </a:xfrm>
          <a:prstGeom prst="rect">
            <a:avLst/>
          </a:prstGeom>
          <a:solidFill>
            <a:schemeClr val="accent1">
              <a:lumMod val="75000"/>
            </a:schemeClr>
          </a:solidFill>
          <a:ln/>
          <a:effectLst>
            <a:outerShdw blurRad="63500" dist="12700" dir="8100000" algn="bl" rotWithShape="0">
              <a:srgbClr val="000000">
                <a:alpha val="12000"/>
              </a:srgbClr>
            </a:outerShdw>
          </a:effectLst>
        </p:spPr>
        <p:txBody>
          <a:bodyPr/>
          <a:lstStyle/>
          <a:p>
            <a:endParaRPr lang="en-US"/>
          </a:p>
        </p:txBody>
      </p:sp>
      <p:sp>
        <p:nvSpPr>
          <p:cNvPr id="5" name="Text 3"/>
          <p:cNvSpPr/>
          <p:nvPr/>
        </p:nvSpPr>
        <p:spPr>
          <a:xfrm>
            <a:off x="274320" y="1051560"/>
            <a:ext cx="1920240" cy="640080"/>
          </a:xfrm>
          <a:prstGeom prst="rect">
            <a:avLst/>
          </a:prstGeom>
          <a:noFill/>
          <a:ln/>
        </p:spPr>
        <p:txBody>
          <a:bodyPr wrap="square" rtlCol="0" anchor="ctr"/>
          <a:lstStyle/>
          <a:p>
            <a:pPr marL="0" indent="0" algn="ctr">
              <a:buNone/>
            </a:pPr>
            <a:r>
              <a:rPr lang="en-US" sz="1400" b="1" dirty="0">
                <a:solidFill>
                  <a:srgbClr val="FFFFFF"/>
                </a:solidFill>
              </a:rPr>
              <a:t>User</a:t>
            </a:r>
            <a:endParaRPr lang="en-US" sz="1400" dirty="0"/>
          </a:p>
          <a:p>
            <a:pPr marL="0" indent="0" algn="ctr">
              <a:buNone/>
            </a:pPr>
            <a:r>
              <a:rPr lang="en-US" sz="1400" b="1" dirty="0">
                <a:solidFill>
                  <a:srgbClr val="FFFFFF"/>
                </a:solidFill>
              </a:rPr>
              <a:t>Query</a:t>
            </a:r>
            <a:endParaRPr lang="en-US" sz="1400" dirty="0"/>
          </a:p>
        </p:txBody>
      </p:sp>
      <p:sp>
        <p:nvSpPr>
          <p:cNvPr id="6" name="Shape 4"/>
          <p:cNvSpPr/>
          <p:nvPr/>
        </p:nvSpPr>
        <p:spPr>
          <a:xfrm>
            <a:off x="2240280" y="1581912"/>
            <a:ext cx="201168" cy="0"/>
          </a:xfrm>
          <a:prstGeom prst="line">
            <a:avLst/>
          </a:prstGeom>
          <a:noFill/>
          <a:ln w="25400">
            <a:solidFill>
              <a:srgbClr val="2E74B5"/>
            </a:solidFill>
            <a:prstDash val="solid"/>
          </a:ln>
        </p:spPr>
        <p:txBody>
          <a:bodyPr/>
          <a:lstStyle/>
          <a:p>
            <a:endParaRPr lang="en-US"/>
          </a:p>
        </p:txBody>
      </p:sp>
      <p:sp>
        <p:nvSpPr>
          <p:cNvPr id="7" name="Shape 5"/>
          <p:cNvSpPr/>
          <p:nvPr/>
        </p:nvSpPr>
        <p:spPr>
          <a:xfrm>
            <a:off x="2487168" y="1005840"/>
            <a:ext cx="1920240" cy="1188720"/>
          </a:xfrm>
          <a:prstGeom prst="rect">
            <a:avLst/>
          </a:prstGeom>
          <a:solidFill>
            <a:schemeClr val="accent1">
              <a:lumMod val="75000"/>
            </a:schemeClr>
          </a:solidFill>
          <a:ln/>
          <a:effectLst>
            <a:outerShdw blurRad="63500" dist="12700" dir="8100000" algn="bl" rotWithShape="0">
              <a:srgbClr val="000000">
                <a:alpha val="12000"/>
              </a:srgbClr>
            </a:outerShdw>
          </a:effectLst>
        </p:spPr>
        <p:txBody>
          <a:bodyPr/>
          <a:lstStyle/>
          <a:p>
            <a:endParaRPr lang="en-US"/>
          </a:p>
        </p:txBody>
      </p:sp>
      <p:sp>
        <p:nvSpPr>
          <p:cNvPr id="8" name="Text 6"/>
          <p:cNvSpPr/>
          <p:nvPr/>
        </p:nvSpPr>
        <p:spPr>
          <a:xfrm>
            <a:off x="2487168" y="1051560"/>
            <a:ext cx="1920240" cy="640080"/>
          </a:xfrm>
          <a:prstGeom prst="rect">
            <a:avLst/>
          </a:prstGeom>
          <a:noFill/>
          <a:ln/>
        </p:spPr>
        <p:txBody>
          <a:bodyPr wrap="square" rtlCol="0" anchor="ctr"/>
          <a:lstStyle/>
          <a:p>
            <a:pPr marL="0" indent="0" algn="ctr">
              <a:buNone/>
            </a:pPr>
            <a:r>
              <a:rPr lang="en-US" sz="1400" b="1" dirty="0">
                <a:solidFill>
                  <a:srgbClr val="FFFFFF"/>
                </a:solidFill>
              </a:rPr>
              <a:t>TF-IDF</a:t>
            </a:r>
            <a:endParaRPr lang="en-US" sz="1400" dirty="0"/>
          </a:p>
          <a:p>
            <a:pPr marL="0" indent="0" algn="ctr">
              <a:buNone/>
            </a:pPr>
            <a:r>
              <a:rPr lang="en-US" sz="1400" b="1" dirty="0">
                <a:solidFill>
                  <a:srgbClr val="FFFFFF"/>
                </a:solidFill>
              </a:rPr>
              <a:t>Retrieval</a:t>
            </a:r>
            <a:endParaRPr lang="en-US" sz="1400" dirty="0"/>
          </a:p>
        </p:txBody>
      </p:sp>
      <p:sp>
        <p:nvSpPr>
          <p:cNvPr id="9" name="Text 7"/>
          <p:cNvSpPr/>
          <p:nvPr/>
        </p:nvSpPr>
        <p:spPr>
          <a:xfrm>
            <a:off x="2487168" y="1719072"/>
            <a:ext cx="1920240" cy="411480"/>
          </a:xfrm>
          <a:prstGeom prst="rect">
            <a:avLst/>
          </a:prstGeom>
          <a:noFill/>
          <a:ln/>
        </p:spPr>
        <p:txBody>
          <a:bodyPr wrap="square" rtlCol="0" anchor="ctr"/>
          <a:lstStyle/>
          <a:p>
            <a:pPr marL="0" indent="0" algn="ctr">
              <a:buNone/>
            </a:pPr>
            <a:r>
              <a:rPr lang="en-US" sz="1000" dirty="0">
                <a:solidFill>
                  <a:srgbClr val="AABBD4"/>
                </a:solidFill>
              </a:rPr>
              <a:t>Top-5 docs</a:t>
            </a:r>
            <a:endParaRPr lang="en-US" sz="1000" dirty="0"/>
          </a:p>
        </p:txBody>
      </p:sp>
      <p:sp>
        <p:nvSpPr>
          <p:cNvPr id="10" name="Shape 8"/>
          <p:cNvSpPr/>
          <p:nvPr/>
        </p:nvSpPr>
        <p:spPr>
          <a:xfrm>
            <a:off x="4453128" y="1581912"/>
            <a:ext cx="201168" cy="0"/>
          </a:xfrm>
          <a:prstGeom prst="line">
            <a:avLst/>
          </a:prstGeom>
          <a:noFill/>
          <a:ln w="25400">
            <a:solidFill>
              <a:srgbClr val="2E74B5"/>
            </a:solidFill>
            <a:prstDash val="solid"/>
          </a:ln>
        </p:spPr>
        <p:txBody>
          <a:bodyPr/>
          <a:lstStyle/>
          <a:p>
            <a:endParaRPr lang="en-US"/>
          </a:p>
        </p:txBody>
      </p:sp>
      <p:sp>
        <p:nvSpPr>
          <p:cNvPr id="11" name="Shape 9"/>
          <p:cNvSpPr/>
          <p:nvPr/>
        </p:nvSpPr>
        <p:spPr>
          <a:xfrm>
            <a:off x="4700016" y="1005840"/>
            <a:ext cx="1920240" cy="1188720"/>
          </a:xfrm>
          <a:prstGeom prst="rect">
            <a:avLst/>
          </a:prstGeom>
          <a:solidFill>
            <a:schemeClr val="accent1">
              <a:lumMod val="75000"/>
            </a:schemeClr>
          </a:solidFill>
          <a:ln/>
          <a:effectLst>
            <a:outerShdw blurRad="63500" dist="12700" dir="8100000" algn="bl" rotWithShape="0">
              <a:srgbClr val="000000">
                <a:alpha val="12000"/>
              </a:srgbClr>
            </a:outerShdw>
          </a:effectLst>
        </p:spPr>
        <p:txBody>
          <a:bodyPr/>
          <a:lstStyle/>
          <a:p>
            <a:endParaRPr lang="en-US"/>
          </a:p>
        </p:txBody>
      </p:sp>
      <p:sp>
        <p:nvSpPr>
          <p:cNvPr id="12" name="Text 10"/>
          <p:cNvSpPr/>
          <p:nvPr/>
        </p:nvSpPr>
        <p:spPr>
          <a:xfrm>
            <a:off x="4700016" y="1051560"/>
            <a:ext cx="1920240" cy="640080"/>
          </a:xfrm>
          <a:prstGeom prst="rect">
            <a:avLst/>
          </a:prstGeom>
          <a:noFill/>
          <a:ln/>
        </p:spPr>
        <p:txBody>
          <a:bodyPr wrap="square" rtlCol="0" anchor="ctr"/>
          <a:lstStyle/>
          <a:p>
            <a:pPr marL="0" indent="0" algn="ctr">
              <a:buNone/>
            </a:pPr>
            <a:r>
              <a:rPr lang="en-US" sz="1400" b="1" dirty="0">
                <a:solidFill>
                  <a:srgbClr val="FFFFFF"/>
                </a:solidFill>
              </a:rPr>
              <a:t>Context</a:t>
            </a:r>
            <a:endParaRPr lang="en-US" sz="1400" dirty="0"/>
          </a:p>
          <a:p>
            <a:pPr marL="0" indent="0" algn="ctr">
              <a:buNone/>
            </a:pPr>
            <a:r>
              <a:rPr lang="en-US" sz="1400" b="1" dirty="0">
                <a:solidFill>
                  <a:srgbClr val="FFFFFF"/>
                </a:solidFill>
              </a:rPr>
              <a:t>Construction</a:t>
            </a:r>
            <a:endParaRPr lang="en-US" sz="1400" dirty="0"/>
          </a:p>
        </p:txBody>
      </p:sp>
      <p:sp>
        <p:nvSpPr>
          <p:cNvPr id="13" name="Text 11"/>
          <p:cNvSpPr/>
          <p:nvPr/>
        </p:nvSpPr>
        <p:spPr>
          <a:xfrm>
            <a:off x="4700016" y="1719072"/>
            <a:ext cx="1920240" cy="411480"/>
          </a:xfrm>
          <a:prstGeom prst="rect">
            <a:avLst/>
          </a:prstGeom>
          <a:noFill/>
          <a:ln/>
        </p:spPr>
        <p:txBody>
          <a:bodyPr wrap="square" rtlCol="0" anchor="ctr"/>
          <a:lstStyle/>
          <a:p>
            <a:pPr marL="0" indent="0" algn="ctr">
              <a:buNone/>
            </a:pPr>
            <a:r>
              <a:rPr lang="en-US" sz="1000" dirty="0">
                <a:solidFill>
                  <a:srgbClr val="AABBD4"/>
                </a:solidFill>
              </a:rPr>
              <a:t>ID + Title + Abstract (600 chars)</a:t>
            </a:r>
            <a:endParaRPr lang="en-US" sz="1000" dirty="0"/>
          </a:p>
        </p:txBody>
      </p:sp>
      <p:sp>
        <p:nvSpPr>
          <p:cNvPr id="14" name="Shape 12"/>
          <p:cNvSpPr/>
          <p:nvPr/>
        </p:nvSpPr>
        <p:spPr>
          <a:xfrm>
            <a:off x="6665976" y="1581912"/>
            <a:ext cx="201168" cy="0"/>
          </a:xfrm>
          <a:prstGeom prst="line">
            <a:avLst/>
          </a:prstGeom>
          <a:noFill/>
          <a:ln w="25400">
            <a:solidFill>
              <a:srgbClr val="2E74B5"/>
            </a:solidFill>
            <a:prstDash val="solid"/>
          </a:ln>
        </p:spPr>
        <p:txBody>
          <a:bodyPr/>
          <a:lstStyle/>
          <a:p>
            <a:endParaRPr lang="en-US"/>
          </a:p>
        </p:txBody>
      </p:sp>
      <p:sp>
        <p:nvSpPr>
          <p:cNvPr id="15" name="Shape 13"/>
          <p:cNvSpPr/>
          <p:nvPr/>
        </p:nvSpPr>
        <p:spPr>
          <a:xfrm>
            <a:off x="6912864" y="1005840"/>
            <a:ext cx="1920240" cy="1188720"/>
          </a:xfrm>
          <a:prstGeom prst="rect">
            <a:avLst/>
          </a:prstGeom>
          <a:solidFill>
            <a:schemeClr val="accent1">
              <a:lumMod val="75000"/>
            </a:schemeClr>
          </a:solidFill>
          <a:ln/>
          <a:effectLst>
            <a:outerShdw blurRad="63500" dist="12700" dir="8100000" algn="bl" rotWithShape="0">
              <a:srgbClr val="000000">
                <a:alpha val="12000"/>
              </a:srgbClr>
            </a:outerShdw>
          </a:effectLst>
        </p:spPr>
        <p:txBody>
          <a:bodyPr/>
          <a:lstStyle/>
          <a:p>
            <a:endParaRPr lang="en-US"/>
          </a:p>
        </p:txBody>
      </p:sp>
      <p:sp>
        <p:nvSpPr>
          <p:cNvPr id="16" name="Text 14"/>
          <p:cNvSpPr/>
          <p:nvPr/>
        </p:nvSpPr>
        <p:spPr>
          <a:xfrm>
            <a:off x="6912864" y="1051560"/>
            <a:ext cx="1920240" cy="640080"/>
          </a:xfrm>
          <a:prstGeom prst="rect">
            <a:avLst/>
          </a:prstGeom>
          <a:noFill/>
          <a:ln/>
        </p:spPr>
        <p:txBody>
          <a:bodyPr wrap="square" rtlCol="0" anchor="ctr"/>
          <a:lstStyle/>
          <a:p>
            <a:pPr marL="0" indent="0" algn="ctr">
              <a:buNone/>
            </a:pPr>
            <a:r>
              <a:rPr lang="en-US" sz="1400" b="1" dirty="0">
                <a:solidFill>
                  <a:srgbClr val="FFFFFF"/>
                </a:solidFill>
              </a:rPr>
              <a:t>LLM</a:t>
            </a:r>
            <a:endParaRPr lang="en-US" sz="1400" dirty="0"/>
          </a:p>
          <a:p>
            <a:pPr marL="0" indent="0" algn="ctr">
              <a:buNone/>
            </a:pPr>
            <a:r>
              <a:rPr lang="en-US" sz="1400" b="1" dirty="0">
                <a:solidFill>
                  <a:srgbClr val="FFFFFF"/>
                </a:solidFill>
              </a:rPr>
              <a:t>Generation</a:t>
            </a:r>
            <a:endParaRPr lang="en-US" sz="1400" dirty="0"/>
          </a:p>
        </p:txBody>
      </p:sp>
      <p:sp>
        <p:nvSpPr>
          <p:cNvPr id="17" name="Text 15"/>
          <p:cNvSpPr/>
          <p:nvPr/>
        </p:nvSpPr>
        <p:spPr>
          <a:xfrm>
            <a:off x="6912864" y="1719072"/>
            <a:ext cx="1920240" cy="411480"/>
          </a:xfrm>
          <a:prstGeom prst="rect">
            <a:avLst/>
          </a:prstGeom>
          <a:noFill/>
          <a:ln/>
        </p:spPr>
        <p:txBody>
          <a:bodyPr wrap="square" rtlCol="0" anchor="ctr"/>
          <a:lstStyle/>
          <a:p>
            <a:pPr marL="0" indent="0" algn="ctr">
              <a:buNone/>
            </a:pPr>
            <a:r>
              <a:rPr lang="en-US" sz="1000" dirty="0">
                <a:solidFill>
                  <a:srgbClr val="AABBD4"/>
                </a:solidFill>
              </a:rPr>
              <a:t>GPT-4o-mini</a:t>
            </a:r>
            <a:endParaRPr lang="en-US" sz="1000" dirty="0"/>
          </a:p>
        </p:txBody>
      </p:sp>
      <p:sp>
        <p:nvSpPr>
          <p:cNvPr id="18" name="Shape 16"/>
          <p:cNvSpPr/>
          <p:nvPr/>
        </p:nvSpPr>
        <p:spPr>
          <a:xfrm>
            <a:off x="457200" y="2468880"/>
            <a:ext cx="8229600" cy="242316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19" name="Shape 17"/>
          <p:cNvSpPr/>
          <p:nvPr/>
        </p:nvSpPr>
        <p:spPr>
          <a:xfrm>
            <a:off x="457200" y="2468880"/>
            <a:ext cx="64008" cy="2423160"/>
          </a:xfrm>
          <a:prstGeom prst="rect">
            <a:avLst/>
          </a:prstGeom>
          <a:solidFill>
            <a:srgbClr val="2E74B5"/>
          </a:solidFill>
          <a:ln/>
        </p:spPr>
        <p:txBody>
          <a:bodyPr/>
          <a:lstStyle/>
          <a:p>
            <a:endParaRPr lang="en-US"/>
          </a:p>
        </p:txBody>
      </p:sp>
      <p:sp>
        <p:nvSpPr>
          <p:cNvPr id="20" name="Text 18"/>
          <p:cNvSpPr/>
          <p:nvPr/>
        </p:nvSpPr>
        <p:spPr>
          <a:xfrm>
            <a:off x="685800" y="2560320"/>
            <a:ext cx="7772400" cy="347472"/>
          </a:xfrm>
          <a:prstGeom prst="rect">
            <a:avLst/>
          </a:prstGeom>
          <a:noFill/>
          <a:ln/>
        </p:spPr>
        <p:txBody>
          <a:bodyPr wrap="square" rtlCol="0" anchor="ctr"/>
          <a:lstStyle/>
          <a:p>
            <a:pPr marL="0" indent="0">
              <a:buNone/>
            </a:pPr>
            <a:r>
              <a:rPr lang="en-US" sz="1300" b="1" dirty="0">
                <a:solidFill>
                  <a:srgbClr val="2E74B5"/>
                </a:solidFill>
              </a:rPr>
              <a:t>Best Result — Query: "boundary layer heat transfer"</a:t>
            </a:r>
            <a:endParaRPr lang="en-US" sz="1300" dirty="0"/>
          </a:p>
        </p:txBody>
      </p:sp>
      <p:sp>
        <p:nvSpPr>
          <p:cNvPr id="21" name="Text 19"/>
          <p:cNvSpPr/>
          <p:nvPr/>
        </p:nvSpPr>
        <p:spPr>
          <a:xfrm>
            <a:off x="685800" y="2971800"/>
            <a:ext cx="7772400" cy="1737360"/>
          </a:xfrm>
          <a:prstGeom prst="rect">
            <a:avLst/>
          </a:prstGeom>
          <a:noFill/>
          <a:ln/>
        </p:spPr>
        <p:txBody>
          <a:bodyPr wrap="square" rtlCol="0" anchor="ctr"/>
          <a:lstStyle/>
          <a:p>
            <a:pPr marL="0" indent="0">
              <a:buNone/>
            </a:pPr>
            <a:r>
              <a:rPr lang="en-US" sz="1200" dirty="0">
                <a:solidFill>
                  <a:srgbClr val="1A1A2E"/>
                </a:solidFill>
              </a:rPr>
              <a:t>All 5 retrieved documents scored above 0.50. The LLM generated a comprehensive answer covering: laminar &amp; turbulent boundary layer behavior, transpiration cooling at Mach 3.2, generalized calculation methods using Thwaites' correlation, and supersonic cases on yawed cones. The model cited only retrieved documents and explicitly acknowledged gaps — no hallucination.</a:t>
            </a:r>
            <a:endParaRPr lang="en-US" sz="1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Interactive Demo">
    <p:bg>
      <p:bgPr>
        <a:solidFill>
          <a:srgbClr val="D6E4F7"/>
        </a:solidFill>
        <a:effectLst/>
      </p:bgPr>
    </p:bg>
    <p:spTree>
      <p:nvGrpSpPr>
        <p:cNvPr id="1" name=""/>
        <p:cNvGrpSpPr/>
        <p:nvPr/>
      </p:nvGrpSpPr>
      <p:grpSpPr>
        <a:xfrm>
          <a:off x="0" y="0"/>
          <a:ext cx="0" cy="0"/>
          <a:chOff x="0" y="0"/>
          <a:chExt cx="0" cy="0"/>
        </a:xfrm>
      </p:grpSpPr>
      <p:sp>
        <p:nvSpPr>
          <p:cNvPr id="2" name="Title"/>
          <p:cNvSpPr/>
          <p:nvPr/>
        </p:nvSpPr>
        <p:spPr>
          <a:xfrm>
            <a:off x="457200" y="201168"/>
            <a:ext cx="8229600" cy="548640"/>
          </a:xfrm>
          <a:prstGeom prst="rect">
            <a:avLst/>
          </a:prstGeom>
          <a:noFill/>
          <a:ln/>
        </p:spPr>
        <p:txBody>
          <a:bodyPr wrap="square" rtlCol="0" anchor="ctr"/>
          <a:lstStyle/>
          <a:p>
            <a:pPr marL="0" indent="0">
              <a:buNone/>
            </a:pPr>
            <a:r>
              <a:rPr lang="en-US" sz="2600" b="1" dirty="0">
                <a:solidFill>
                  <a:srgbClr val="2E74B5"/>
                </a:solidFill>
              </a:rPr>
              <a:t>Interactive Search Demo</a:t>
            </a:r>
          </a:p>
        </p:txBody>
      </p:sp>
      <p:sp>
        <p:nvSpPr>
          <p:cNvPr id="3" name="Divider"/>
          <p:cNvSpPr/>
          <p:nvPr/>
        </p:nvSpPr>
        <p:spPr>
          <a:xfrm>
            <a:off x="457200" y="777240"/>
            <a:ext cx="8229600" cy="27432"/>
          </a:xfrm>
          <a:prstGeom prst="rect">
            <a:avLst/>
          </a:prstGeom>
          <a:solidFill>
            <a:srgbClr val="2E74B5"/>
          </a:solidFill>
          <a:ln/>
        </p:spPr>
        <p:txBody>
          <a:bodyPr/>
          <a:lstStyle/>
          <a:p>
            <a:endParaRPr lang="en-US"/>
          </a:p>
        </p:txBody>
      </p:sp>
      <p:sp>
        <p:nvSpPr>
          <p:cNvPr id="4" name="WidgetBox"/>
          <p:cNvSpPr/>
          <p:nvPr/>
        </p:nvSpPr>
        <p:spPr>
          <a:xfrm>
            <a:off x="457200" y="860040"/>
            <a:ext cx="8229600" cy="3200000"/>
          </a:xfrm>
          <a:prstGeom prst="rect">
            <a:avLst/>
          </a:prstGeom>
          <a:solidFill>
            <a:srgbClr val="FFFFFF"/>
          </a:solidFill>
          <a:ln w="9525">
            <a:solidFill>
              <a:srgbClr val="2E74B5"/>
            </a:solidFill>
          </a:ln>
          <a:effectLst>
            <a:outerShdw blurRad="76200" dist="25400" dir="8100000" algn="bl" rotWithShape="0">
              <a:srgbClr val="000000">
                <a:alpha val="12000"/>
              </a:srgbClr>
            </a:outerShdw>
          </a:effectLst>
        </p:spPr>
        <p:txBody>
          <a:bodyPr wrap="square" lIns="250000" tIns="200000" rIns="250000" rtlCol="0" anchor="t"/>
          <a:lstStyle/>
          <a:p>
            <a:pPr marL="0" indent="0">
              <a:buNone/>
            </a:pPr>
            <a:r>
              <a:rPr lang="en-US" sz="1500" b="1" dirty="0">
                <a:solidFill>
                  <a:srgbClr val="1F3864"/>
                </a:solidFill>
              </a:rPr>
              <a:t>🔎 Mini Search Engine — Interactive Widget</a:t>
            </a:r>
          </a:p>
          <a:p>
            <a:endParaRPr lang="en-US" sz="900" dirty="0"/>
          </a:p>
          <a:p>
            <a:pPr marL="0" indent="0">
              <a:buNone/>
            </a:pPr>
            <a:r>
              <a:rPr lang="en-US" sz="1200" dirty="0">
                <a:solidFill>
                  <a:srgbClr val="555555"/>
                </a:solidFill>
              </a:rPr>
              <a:t>Query:  [ boundary layer heat transfer          ]</a:t>
            </a:r>
          </a:p>
          <a:p>
            <a:pPr marL="0" indent="0">
              <a:buNone/>
            </a:pPr>
            <a:r>
              <a:rPr lang="en-US" sz="1200" dirty="0">
                <a:solidFill>
                  <a:srgbClr val="555555"/>
                </a:solidFill>
              </a:rPr>
              <a:t>Top-K:  [◄—●————►]  5        [☑ Generate RAG Answer]</a:t>
            </a:r>
          </a:p>
          <a:p>
            <a:pPr marL="0" indent="0">
              <a:buNone/>
            </a:pPr>
            <a:r>
              <a:rPr lang="en-US" sz="1300" b="1" dirty="0">
                <a:solidFill>
                  <a:srgbClr val="FFFFFF"/>
                </a:solidFill>
              </a:rPr>
              <a:t>                            [  🔍 Search  ]</a:t>
            </a:r>
          </a:p>
          <a:p>
            <a:endParaRPr lang="en-US" sz="900" dirty="0"/>
          </a:p>
          <a:p>
            <a:pPr marL="0" indent="0">
              <a:buNone/>
            </a:pPr>
            <a:r>
              <a:rPr lang="en-US" sz="1200" b="1" dirty="0">
                <a:solidFill>
                  <a:srgbClr val="2E74B5"/>
                </a:solidFill>
              </a:rPr>
              <a:t>Top-5 Results:</a:t>
            </a:r>
          </a:p>
          <a:p>
            <a:pPr marL="0" indent="0">
              <a:buNone/>
            </a:pPr>
            <a:r>
              <a:rPr lang="en-US" sz="1100" dirty="0">
                <a:solidFill>
                  <a:srgbClr val="333333"/>
                </a:solidFill>
              </a:rPr>
              <a:t>  Rank 1 | Doc 145 | Score: 0.5413 — Skin friction in the laminar boundary layer</a:t>
            </a:r>
          </a:p>
          <a:p>
            <a:pPr marL="0" indent="0">
              <a:buNone/>
            </a:pPr>
            <a:r>
              <a:rPr lang="en-US" sz="1100" dirty="0">
                <a:solidFill>
                  <a:srgbClr val="333333"/>
                </a:solidFill>
              </a:rPr>
              <a:t>  Rank 2 | Doc 959 | Score: 0.5242 — Heat transfer in separated flows</a:t>
            </a:r>
          </a:p>
          <a:p>
            <a:pPr marL="0" indent="0">
              <a:buNone/>
            </a:pPr>
            <a:r>
              <a:rPr lang="en-US" sz="1100" dirty="0">
                <a:solidFill>
                  <a:srgbClr val="333333"/>
                </a:solidFill>
              </a:rPr>
              <a:t>  Rank 3 | Doc 339 | Score: 0.5065 — Heat transfer with transpiration cooling</a:t>
            </a:r>
          </a:p>
          <a:p>
            <a:endParaRPr lang="en-US" sz="900" dirty="0"/>
          </a:p>
          <a:p>
            <a:pPr marL="0" indent="0">
              <a:buNone/>
            </a:pPr>
            <a:r>
              <a:rPr lang="en-US" sz="1200" b="1" dirty="0">
                <a:solidFill>
                  <a:srgbClr val="2E74B5"/>
                </a:solidFill>
              </a:rPr>
              <a:t>💡 RAG Answer (GPT-4o-mini):</a:t>
            </a:r>
          </a:p>
          <a:p>
            <a:pPr marL="0" indent="0">
              <a:buNone/>
            </a:pPr>
            <a:r>
              <a:rPr lang="en-US" sz="1100" i="1" dirty="0">
                <a:solidFill>
                  <a:srgbClr val="444444"/>
                </a:solidFill>
              </a:rPr>
              <a:t>  “Based on retrieved documents, boundary layer heat transfer involves laminar and turbulent</a:t>
            </a:r>
          </a:p>
          <a:p>
            <a:pPr marL="0" indent="0">
              <a:buNone/>
            </a:pPr>
            <a:r>
              <a:rPr lang="en-US" sz="1100" i="1" dirty="0">
                <a:solidFill>
                  <a:srgbClr val="444444"/>
                </a:solidFill>
              </a:rPr>
              <a:t>   regimes, transpiration cooling at Mach 3.2, and Thwaites’ correlation methods...”</a:t>
            </a:r>
          </a:p>
        </p:txBody>
      </p:sp>
      <p:sp>
        <p:nvSpPr>
          <p:cNvPr id="5" name="Note"/>
          <p:cNvSpPr/>
          <p:nvPr/>
        </p:nvSpPr>
        <p:spPr>
          <a:xfrm>
            <a:off x="457200" y="4200000"/>
            <a:ext cx="8229600" cy="560000"/>
          </a:xfrm>
          <a:prstGeom prst="rect">
            <a:avLst/>
          </a:prstGeom>
          <a:solidFill>
            <a:srgbClr val="2E74B5"/>
          </a:solidFill>
          <a:ln/>
          <a:effectLst>
            <a:outerShdw blurRad="76200" dist="25400" dir="8100000" algn="bl" rotWithShape="0">
              <a:srgbClr val="000000">
                <a:alpha val="12000"/>
              </a:srgbClr>
            </a:outerShdw>
          </a:effectLst>
        </p:spPr>
        <p:txBody>
          <a:bodyPr wrap="square" lIns="200000" rtlCol="0" anchor="ctr"/>
          <a:lstStyle/>
          <a:p>
            <a:pPr marL="0" indent="0">
              <a:buNone/>
            </a:pPr>
            <a:r>
              <a:rPr lang="en-US" sz="1200" b="1" dirty="0">
                <a:solidFill>
                  <a:srgbClr val="FFFFFF"/>
                </a:solidFill>
              </a:rPr>
              <a:t>Built with ipywidgets in Google Colab — supports any query with adjustable Top-K (1–20) and optional RAG generation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Shape 0"/>
          <p:cNvSpPr/>
          <p:nvPr/>
        </p:nvSpPr>
        <p:spPr>
          <a:xfrm>
            <a:off x="6858000" y="-731520"/>
            <a:ext cx="3200400" cy="3200400"/>
          </a:xfrm>
          <a:prstGeom prst="ellipse">
            <a:avLst/>
          </a:prstGeom>
          <a:solidFill>
            <a:srgbClr val="2E74B5">
              <a:alpha val="20000"/>
            </a:srgbClr>
          </a:solidFill>
          <a:ln/>
        </p:spPr>
        <p:txBody>
          <a:bodyPr/>
          <a:lstStyle/>
          <a:p>
            <a:endParaRPr lang="en-US"/>
          </a:p>
        </p:txBody>
      </p:sp>
      <p:sp>
        <p:nvSpPr>
          <p:cNvPr id="3" name="Text 1"/>
          <p:cNvSpPr/>
          <p:nvPr/>
        </p:nvSpPr>
        <p:spPr>
          <a:xfrm>
            <a:off x="640080" y="548640"/>
            <a:ext cx="7863840" cy="640080"/>
          </a:xfrm>
          <a:prstGeom prst="rect">
            <a:avLst/>
          </a:prstGeom>
          <a:noFill/>
          <a:ln/>
        </p:spPr>
        <p:txBody>
          <a:bodyPr wrap="square" rtlCol="0" anchor="ctr"/>
          <a:lstStyle/>
          <a:p>
            <a:pPr marL="0" indent="0" algn="ctr">
              <a:buNone/>
            </a:pPr>
            <a:r>
              <a:rPr lang="en-US" sz="3400" b="1" dirty="0"/>
              <a:t>Conclusion</a:t>
            </a:r>
            <a:endParaRPr lang="en-US" sz="3400" dirty="0"/>
          </a:p>
        </p:txBody>
      </p:sp>
      <p:sp>
        <p:nvSpPr>
          <p:cNvPr id="4" name="Shape 2"/>
          <p:cNvSpPr/>
          <p:nvPr/>
        </p:nvSpPr>
        <p:spPr>
          <a:xfrm>
            <a:off x="502920" y="1508760"/>
            <a:ext cx="365760" cy="365760"/>
          </a:xfrm>
          <a:prstGeom prst="ellipse">
            <a:avLst/>
          </a:prstGeom>
          <a:solidFill>
            <a:srgbClr val="2E74B5"/>
          </a:solidFill>
          <a:ln/>
        </p:spPr>
        <p:txBody>
          <a:bodyPr/>
          <a:lstStyle/>
          <a:p>
            <a:endParaRPr lang="en-US"/>
          </a:p>
        </p:txBody>
      </p:sp>
      <p:sp>
        <p:nvSpPr>
          <p:cNvPr id="5" name="Text 3"/>
          <p:cNvSpPr/>
          <p:nvPr/>
        </p:nvSpPr>
        <p:spPr>
          <a:xfrm>
            <a:off x="502920" y="150876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6" name="Text 4"/>
          <p:cNvSpPr/>
          <p:nvPr/>
        </p:nvSpPr>
        <p:spPr>
          <a:xfrm>
            <a:off x="1005840" y="1481328"/>
            <a:ext cx="7589520" cy="457200"/>
          </a:xfrm>
          <a:prstGeom prst="rect">
            <a:avLst/>
          </a:prstGeom>
          <a:noFill/>
          <a:ln/>
        </p:spPr>
        <p:txBody>
          <a:bodyPr wrap="square" rtlCol="0" anchor="ctr"/>
          <a:lstStyle/>
          <a:p>
            <a:pPr marL="0" indent="0">
              <a:buNone/>
            </a:pPr>
            <a:r>
              <a:rPr lang="en-US" sz="1350" dirty="0">
                <a:solidFill>
                  <a:schemeClr val="tx2">
                    <a:lumMod val="75000"/>
                  </a:schemeClr>
                </a:solidFill>
              </a:rPr>
              <a:t>Successfully built a complete IR pipeline: parsing → preprocessing → inverted index → TF-IDF → retrieval</a:t>
            </a:r>
          </a:p>
        </p:txBody>
      </p:sp>
      <p:sp>
        <p:nvSpPr>
          <p:cNvPr id="7" name="Shape 5"/>
          <p:cNvSpPr/>
          <p:nvPr/>
        </p:nvSpPr>
        <p:spPr>
          <a:xfrm>
            <a:off x="502920" y="2313432"/>
            <a:ext cx="365760" cy="365760"/>
          </a:xfrm>
          <a:prstGeom prst="ellipse">
            <a:avLst/>
          </a:prstGeom>
          <a:solidFill>
            <a:srgbClr val="2E74B5"/>
          </a:solidFill>
          <a:ln/>
        </p:spPr>
        <p:txBody>
          <a:bodyPr/>
          <a:lstStyle/>
          <a:p>
            <a:endParaRPr lang="en-US"/>
          </a:p>
        </p:txBody>
      </p:sp>
      <p:sp>
        <p:nvSpPr>
          <p:cNvPr id="8" name="Text 6"/>
          <p:cNvSpPr/>
          <p:nvPr/>
        </p:nvSpPr>
        <p:spPr>
          <a:xfrm>
            <a:off x="502920" y="231343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9" name="Text 7"/>
          <p:cNvSpPr/>
          <p:nvPr/>
        </p:nvSpPr>
        <p:spPr>
          <a:xfrm>
            <a:off x="1005840" y="2286000"/>
            <a:ext cx="7589520" cy="457200"/>
          </a:xfrm>
          <a:prstGeom prst="rect">
            <a:avLst/>
          </a:prstGeom>
          <a:noFill/>
          <a:ln/>
        </p:spPr>
        <p:txBody>
          <a:bodyPr wrap="square" rtlCol="0" anchor="ctr"/>
          <a:lstStyle/>
          <a:p>
            <a:pPr marL="0" indent="0">
              <a:buNone/>
            </a:pPr>
            <a:r>
              <a:rPr lang="en-US" sz="1350" dirty="0">
                <a:solidFill>
                  <a:schemeClr val="tx2">
                    <a:lumMod val="75000"/>
                  </a:schemeClr>
                </a:solidFill>
              </a:rPr>
              <a:t>Evaluated using MAP and NDCG on 152 Cranfield queries — results consistent with baseline TF-IDF benchmarks</a:t>
            </a:r>
          </a:p>
        </p:txBody>
      </p:sp>
      <p:sp>
        <p:nvSpPr>
          <p:cNvPr id="10" name="Shape 8"/>
          <p:cNvSpPr/>
          <p:nvPr/>
        </p:nvSpPr>
        <p:spPr>
          <a:xfrm>
            <a:off x="502920" y="3118104"/>
            <a:ext cx="365760" cy="365760"/>
          </a:xfrm>
          <a:prstGeom prst="ellipse">
            <a:avLst/>
          </a:prstGeom>
          <a:solidFill>
            <a:srgbClr val="2E74B5"/>
          </a:solidFill>
          <a:ln/>
        </p:spPr>
        <p:txBody>
          <a:bodyPr/>
          <a:lstStyle/>
          <a:p>
            <a:endParaRPr lang="en-US"/>
          </a:p>
        </p:txBody>
      </p:sp>
      <p:sp>
        <p:nvSpPr>
          <p:cNvPr id="11" name="Text 9"/>
          <p:cNvSpPr/>
          <p:nvPr/>
        </p:nvSpPr>
        <p:spPr>
          <a:xfrm>
            <a:off x="502920" y="311810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12" name="Text 10"/>
          <p:cNvSpPr/>
          <p:nvPr/>
        </p:nvSpPr>
        <p:spPr>
          <a:xfrm>
            <a:off x="1005840" y="3090672"/>
            <a:ext cx="7589520" cy="457200"/>
          </a:xfrm>
          <a:prstGeom prst="rect">
            <a:avLst/>
          </a:prstGeom>
          <a:noFill/>
          <a:ln/>
        </p:spPr>
        <p:txBody>
          <a:bodyPr wrap="square" rtlCol="0" anchor="ctr"/>
          <a:lstStyle/>
          <a:p>
            <a:pPr marL="0" indent="0">
              <a:buNone/>
            </a:pPr>
            <a:r>
              <a:rPr lang="en-US" sz="1350" dirty="0">
                <a:solidFill>
                  <a:schemeClr val="tx2">
                    <a:lumMod val="75000"/>
                  </a:schemeClr>
                </a:solidFill>
              </a:rPr>
              <a:t>RAG pipeline grounded LLM answers in retrieved documents, preventing hallucination</a:t>
            </a:r>
          </a:p>
        </p:txBody>
      </p:sp>
      <p:sp>
        <p:nvSpPr>
          <p:cNvPr id="13" name="Shape 11"/>
          <p:cNvSpPr/>
          <p:nvPr/>
        </p:nvSpPr>
        <p:spPr>
          <a:xfrm>
            <a:off x="502920" y="3922776"/>
            <a:ext cx="365760" cy="365760"/>
          </a:xfrm>
          <a:prstGeom prst="ellipse">
            <a:avLst/>
          </a:prstGeom>
          <a:solidFill>
            <a:srgbClr val="2E74B5"/>
          </a:solidFill>
          <a:ln/>
        </p:spPr>
        <p:txBody>
          <a:bodyPr/>
          <a:lstStyle/>
          <a:p>
            <a:endParaRPr lang="en-US"/>
          </a:p>
        </p:txBody>
      </p:sp>
      <p:sp>
        <p:nvSpPr>
          <p:cNvPr id="14" name="Text 12"/>
          <p:cNvSpPr/>
          <p:nvPr/>
        </p:nvSpPr>
        <p:spPr>
          <a:xfrm>
            <a:off x="502920" y="392277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15" name="Text 13"/>
          <p:cNvSpPr/>
          <p:nvPr/>
        </p:nvSpPr>
        <p:spPr>
          <a:xfrm>
            <a:off x="1005840" y="3895344"/>
            <a:ext cx="7589520" cy="457200"/>
          </a:xfrm>
          <a:prstGeom prst="rect">
            <a:avLst/>
          </a:prstGeom>
          <a:noFill/>
          <a:ln/>
        </p:spPr>
        <p:txBody>
          <a:bodyPr wrap="square" rtlCol="0" anchor="ctr"/>
          <a:lstStyle/>
          <a:p>
            <a:pPr marL="0" indent="0">
              <a:buNone/>
            </a:pPr>
            <a:r>
              <a:rPr lang="en-US" sz="1350" dirty="0">
                <a:solidFill>
                  <a:schemeClr val="tx2">
                    <a:lumMod val="75000"/>
                  </a:schemeClr>
                </a:solidFill>
              </a:rPr>
              <a:t>Key limitation: vocabulary mismatch in TF-IDF (no semantic understanding) — BM25 or dense retrieval would improve results</a:t>
            </a:r>
          </a:p>
        </p:txBody>
      </p:sp>
      <p:sp>
        <p:nvSpPr>
          <p:cNvPr id="16" name="Text 14"/>
          <p:cNvSpPr/>
          <p:nvPr/>
        </p:nvSpPr>
        <p:spPr>
          <a:xfrm>
            <a:off x="457200" y="4754880"/>
            <a:ext cx="8229600" cy="274320"/>
          </a:xfrm>
          <a:prstGeom prst="rect">
            <a:avLst/>
          </a:prstGeom>
          <a:noFill/>
          <a:ln/>
        </p:spPr>
        <p:txBody>
          <a:bodyPr wrap="square" rtlCol="0" anchor="ctr"/>
          <a:lstStyle/>
          <a:p>
            <a:pPr marL="0" indent="0" algn="ctr">
              <a:buNone/>
            </a:pPr>
            <a:r>
              <a:rPr lang="en-US" sz="1000" dirty="0">
                <a:solidFill>
                  <a:srgbClr val="5A6A8A"/>
                </a:solidFill>
              </a:rPr>
              <a:t>Jordan University of Science and Technology  |  AI356 — Information Retrieval  |  2026</a:t>
            </a:r>
            <a:endParaRPr lang="en-US" sz="1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47B15118A59F54C93A2AFB36C94F576" ma:contentTypeVersion="10" ma:contentTypeDescription="Create a new document." ma:contentTypeScope="" ma:versionID="f4cc989cf932afd22791ece06fddfa1d">
  <xsd:schema xmlns:xsd="http://www.w3.org/2001/XMLSchema" xmlns:xs="http://www.w3.org/2001/XMLSchema" xmlns:p="http://schemas.microsoft.com/office/2006/metadata/properties" xmlns:ns3="06852783-9c43-4d2f-85ef-3d988a95d9fd" targetNamespace="http://schemas.microsoft.com/office/2006/metadata/properties" ma:root="true" ma:fieldsID="c74d6cadb4e5658a3b145e31b9cdcb3c" ns3:_="">
    <xsd:import namespace="06852783-9c43-4d2f-85ef-3d988a95d9fd"/>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_activity" minOccurs="0"/>
                <xsd:element ref="ns3:MediaServiceDateTaken" minOccurs="0"/>
                <xsd:element ref="ns3:MediaServiceSystemTag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6852783-9c43-4d2f-85ef-3d988a95d9f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_activity" ma:index="12" nillable="true" ma:displayName="_activity" ma:hidden="true" ma:internalName="_activity">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06852783-9c43-4d2f-85ef-3d988a95d9fd" xsi:nil="true"/>
  </documentManagement>
</p:properties>
</file>

<file path=customXml/itemProps1.xml><?xml version="1.0" encoding="utf-8"?>
<ds:datastoreItem xmlns:ds="http://schemas.openxmlformats.org/officeDocument/2006/customXml" ds:itemID="{37FD222F-3E22-41E7-8D4B-1537BF7DAC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6852783-9c43-4d2f-85ef-3d988a95d9f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8E6D005-B8A6-4524-81F1-33C4B3962F6D}">
  <ds:schemaRefs>
    <ds:schemaRef ds:uri="http://schemas.microsoft.com/sharepoint/v3/contenttype/forms"/>
  </ds:schemaRefs>
</ds:datastoreItem>
</file>

<file path=customXml/itemProps3.xml><?xml version="1.0" encoding="utf-8"?>
<ds:datastoreItem xmlns:ds="http://schemas.openxmlformats.org/officeDocument/2006/customXml" ds:itemID="{DB96F7D6-4232-4489-98EE-9C179DC9BBDF}">
  <ds:schemaRefs>
    <ds:schemaRef ds:uri="http://purl.org/dc/dcmitype/"/>
    <ds:schemaRef ds:uri="http://schemas.microsoft.com/office/2006/documentManagement/types"/>
    <ds:schemaRef ds:uri="http://schemas.microsoft.com/office/2006/metadata/properties"/>
    <ds:schemaRef ds:uri="http://www.w3.org/XML/1998/namespace"/>
    <ds:schemaRef ds:uri="http://purl.org/dc/terms/"/>
    <ds:schemaRef ds:uri="06852783-9c43-4d2f-85ef-3d988a95d9fd"/>
    <ds:schemaRef ds:uri="http://purl.org/dc/elements/1.1/"/>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otalTime>362</TotalTime>
  <Words>892</Words>
  <Application>Microsoft Office PowerPoint</Application>
  <PresentationFormat>On-screen Show (16:9)</PresentationFormat>
  <Paragraphs>210</Paragraphs>
  <Slides>14</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 Search Engine with RAG Extension</dc:title>
  <dc:subject>PptxGenJS Presentation</dc:subject>
  <dc:creator>PptxGenJS</dc:creator>
  <cp:lastModifiedBy>BATOOL IBRAHIM ALMAHASHI</cp:lastModifiedBy>
  <cp:revision>5</cp:revision>
  <dcterms:created xsi:type="dcterms:W3CDTF">2026-05-06T13:12:26Z</dcterms:created>
  <dcterms:modified xsi:type="dcterms:W3CDTF">2026-05-07T15:33:44Z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0x010100B47B15118A59F54C93A2AFB36C94F576</vt:lpwstr>
  </property>
</Properties>
</file>